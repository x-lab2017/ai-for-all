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75899a007457a" /><Relationship Type="http://schemas.openxmlformats.org/officeDocument/2006/relationships/extended-properties" Target="/docProps/app.xml" Id="R03df97e6307f4c5d" /><Relationship Type="http://schemas.openxmlformats.org/officeDocument/2006/relationships/officeDocument" Target="/ppt/presentation.xml" Id="R96bf8a7ba3eb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29ab953ef48be"/>
  </p:sldMasterIdLst>
  <p:notesMasterIdLst>
    <p:notesMasterId xmlns:r="http://schemas.openxmlformats.org/officeDocument/2006/relationships" r:id="R69622def5a254343"/>
  </p:notesMasterIdLst>
  <p:sldIdLst>
    <p:sldId xmlns:r="http://schemas.openxmlformats.org/officeDocument/2006/relationships" id="256" r:id="Rb410a995807a43e7"/>
    <p:sldId xmlns:r="http://schemas.openxmlformats.org/officeDocument/2006/relationships" id="257" r:id="R9384c026bd904c7d"/>
    <p:sldId xmlns:r="http://schemas.openxmlformats.org/officeDocument/2006/relationships" id="258" r:id="R1610557c866a4ab9"/>
    <p:sldId xmlns:r="http://schemas.openxmlformats.org/officeDocument/2006/relationships" id="259" r:id="R3cd5832375c14f23"/>
    <p:sldId xmlns:r="http://schemas.openxmlformats.org/officeDocument/2006/relationships" id="260" r:id="R572f2a801bbe4162"/>
    <p:sldId xmlns:r="http://schemas.openxmlformats.org/officeDocument/2006/relationships" id="261" r:id="R060a5bd4703641b2"/>
    <p:sldId xmlns:r="http://schemas.openxmlformats.org/officeDocument/2006/relationships" id="262" r:id="R095ee804b37f4c05"/>
    <p:sldId xmlns:r="http://schemas.openxmlformats.org/officeDocument/2006/relationships" id="263" r:id="R1ca62e960c084fdc"/>
    <p:sldId xmlns:r="http://schemas.openxmlformats.org/officeDocument/2006/relationships" id="264" r:id="R0adda992dbb84828"/>
    <p:sldId xmlns:r="http://schemas.openxmlformats.org/officeDocument/2006/relationships" id="265" r:id="R5947dfe8375848b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29e8c116db400e" /><Relationship Type="http://schemas.openxmlformats.org/officeDocument/2006/relationships/slideMaster" Target="/ppt/slideMasters/slideMaster1.xml" Id="R34829ab953ef48be" /><Relationship Type="http://schemas.openxmlformats.org/officeDocument/2006/relationships/notesMaster" Target="/ppt/notesMasters/notesMaster1.xml" Id="R69622def5a254343" /><Relationship Type="http://schemas.openxmlformats.org/officeDocument/2006/relationships/presProps" Target="/ppt/presProps.xml" Id="R0988557481ab45d5" /><Relationship Type="http://schemas.openxmlformats.org/officeDocument/2006/relationships/tableStyles" Target="/ppt/tableStyles.xml" Id="R5e7c6def9f284536" /><Relationship Type="http://schemas.openxmlformats.org/officeDocument/2006/relationships/slide" Target="/ppt/slides/slide1.xml" Id="Rb410a995807a43e7" /><Relationship Type="http://schemas.openxmlformats.org/officeDocument/2006/relationships/slide" Target="/ppt/slides/slide2.xml" Id="R9384c026bd904c7d" /><Relationship Type="http://schemas.openxmlformats.org/officeDocument/2006/relationships/slide" Target="/ppt/slides/slide3.xml" Id="R1610557c866a4ab9" /><Relationship Type="http://schemas.openxmlformats.org/officeDocument/2006/relationships/slide" Target="/ppt/slides/slide4.xml" Id="R3cd5832375c14f23" /><Relationship Type="http://schemas.openxmlformats.org/officeDocument/2006/relationships/slide" Target="/ppt/slides/slide5.xml" Id="R572f2a801bbe4162" /><Relationship Type="http://schemas.openxmlformats.org/officeDocument/2006/relationships/slide" Target="/ppt/slides/slide6.xml" Id="R060a5bd4703641b2" /><Relationship Type="http://schemas.openxmlformats.org/officeDocument/2006/relationships/slide" Target="/ppt/slides/slide7.xml" Id="R095ee804b37f4c05" /><Relationship Type="http://schemas.openxmlformats.org/officeDocument/2006/relationships/slide" Target="/ppt/slides/slide8.xml" Id="R1ca62e960c084fdc" /><Relationship Type="http://schemas.openxmlformats.org/officeDocument/2006/relationships/slide" Target="/ppt/slides/slide9.xml" Id="R0adda992dbb84828" /><Relationship Type="http://schemas.openxmlformats.org/officeDocument/2006/relationships/slide" Target="/ppt/slides/slide10.xml" Id="R5947dfe8375848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3ad294c4c949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b7d59124f4819" /><Relationship Type="http://schemas.openxmlformats.org/officeDocument/2006/relationships/notesMaster" Target="/ppt/notesMasters/notesMaster1.xml" Id="R15928582292b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92fbfc65d4904" /><Relationship Type="http://schemas.openxmlformats.org/officeDocument/2006/relationships/notesMaster" Target="/ppt/notesMasters/notesMaster1.xml" Id="Ra4a84276018249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e61a611c3c4670" /><Relationship Type="http://schemas.openxmlformats.org/officeDocument/2006/relationships/notesMaster" Target="/ppt/notesMasters/notesMaster1.xml" Id="R8a1d2f57473e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9889b6decc44a6" /><Relationship Type="http://schemas.openxmlformats.org/officeDocument/2006/relationships/notesMaster" Target="/ppt/notesMasters/notesMaster1.xml" Id="Rc0cfeca880c3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6f15e3bab14e28" /><Relationship Type="http://schemas.openxmlformats.org/officeDocument/2006/relationships/notesMaster" Target="/ppt/notesMasters/notesMaster1.xml" Id="R094b00325a7e4b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27ead57984374" /><Relationship Type="http://schemas.openxmlformats.org/officeDocument/2006/relationships/notesMaster" Target="/ppt/notesMasters/notesMaster1.xml" Id="R130ffc3dd538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a7d906dc94bdd" /><Relationship Type="http://schemas.openxmlformats.org/officeDocument/2006/relationships/notesMaster" Target="/ppt/notesMasters/notesMaster1.xml" Id="R928525892abd4d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b2e47a70924ed6" /><Relationship Type="http://schemas.openxmlformats.org/officeDocument/2006/relationships/notesMaster" Target="/ppt/notesMasters/notesMaster1.xml" Id="R12a77ca94ec648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70160a5894bb1" /><Relationship Type="http://schemas.openxmlformats.org/officeDocument/2006/relationships/notesMaster" Target="/ppt/notesMasters/notesMaster1.xml" Id="R1af612f730bc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ca3b860aa24c6c" /><Relationship Type="http://schemas.openxmlformats.org/officeDocument/2006/relationships/notesMaster" Target="/ppt/notesMasters/notesMaster1.xml" Id="R650cb4f8c0dc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今天我们分享的，是 X-lab AI 对 AI 普惠的一份长期承诺。我们既关心更多人能否获得 AI，也关心他们能否用好 AI，持续学习、解决问题并参与创造。这份宣言面向开发者和开源社区，也邀请愿意提供资源与场景的伙伴一起参与。接下来，我们从 Linux 的历史与开放模型的当下出发，说明两股力量如何创造公共价值，以及怎样让这种创造持续发生。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已发布十章互动演示：https://www.x-lab.info/ai-for-all/presentation/#manifesto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Linux 的三十五年，让我们看见开放协作如何积累成共同基础。一个人的创造经过开发者、社区与组织的共同维护，进入更多真实应用。这段历史带给 AI 时代的启发是：开放技术之后，还需要维护、协作和广泛采用。我们引用 Linux 基金会的周年报告图片介绍这一历史参照，图片不表示基金会为本宣言背书。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已发布十章互动演示：https://www.x-lab.info/ai-for-all/presentation/#origins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>Linux Foundation 周年文章与图片：https://www.linuxfoundation.org/blog/celebrating-35-years-of-linux-the-open-source-engine-powering-three-decades-of-global-innovation-and-infrastructure</a:t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今天，这种共同创造的机会延伸到开放模型。这里依照网页中的顺序，展示阿里巴巴的 Qwen、深度求索的 DeepSeek、智谱 AI 的 GLM、月之暗面的 Kimi，以及腾讯的混元。它们为开发者学习、构建应用和进一步改进提供了机会。页面中的版本是具体代表示例，不是最新版本清单，也不表示性能或使用量排名。使用条件要以具体版本许可为准。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已发布十章互动演示：https://www.x-lab.info/ai-for-all/presentation/#open-models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>https://github.com/QwenLM/Qwen3</a:t>
            </a:r>
          </a:p>
          <a:p xmlns:a="http://schemas.openxmlformats.org/drawingml/2006/main">
            <a:r>
              <a:t>https://github.com/deepseek-ai/DeepSeek-R1</a:t>
            </a:r>
          </a:p>
          <a:p xmlns:a="http://schemas.openxmlformats.org/drawingml/2006/main">
            <a:r>
              <a:t>https://github.com/zai-org/GLM-4.5</a:t>
            </a:r>
          </a:p>
          <a:p xmlns:a="http://schemas.openxmlformats.org/drawingml/2006/main">
            <a:r>
              <a:t>https://github.com/MoonshotAI/Kimi-K2</a:t>
            </a:r>
          </a:p>
          <a:p xmlns:a="http://schemas.openxmlformats.org/drawingml/2006/main">
            <a:r>
              <a:t>https://github.com/Tencent-Hunyuan/Hunyuan-A13B</a:t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我们把推动 AI 普惠的力量归纳为两个方面。开源之力开放技术、知识与工具，降低学习和复用的门槛。开发者之力从真实问题出发，把可获得的能力转化为有用的成果。学习者、构建者和工程师都可以参与其中。两者相互促进：更好的技术基础支持创造，开发者的作品与反馈又丰富开放生态。这里的乘法是理念表达，成效仍需由实践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已发布十章互动演示：https://www.x-lab.info/ai-for-all/presentation/#forces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创造如何真正帮助更多人？我们强调数字公共品这条路径。首先是获取并理解 AI 能力，再把创造形成清晰许可、可复用且可维护的共享成果。成果进入真实使用，还需要采用与本地化，包括文档、维护、语言、资源条件和具体场景的适配。最后要听取使用者反馈，核验谁获得了什么帮助。具体项目是否符合数字公共品相关标准，需要依据标准单独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已发布十章互动演示：https://www.x-lab.info/ai-for-all/presentation/#public-goods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要让协作和支持有依据，需要一个共同内核：数据与评价。平台连接让参与者和实践相遇，数据证据保留可追溯的信息，评价方法帮助理解贡献和效果，评价研究检验方法本身。这四类工作相互配合，不是机械的先后流程。代码之外，文档、维护、教学和社区协作也值得被看见。评价应公开局限，保留质疑和纠错渠道，帮助人成长，而不是用单一分数定义人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已发布十章互动演示：https://www.x-lab.info/ai-for-all/presentation/#evaluation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请先看左侧成长飞轮：从实践贡献出发，让贡献可见，支持人才成长，再产生公共品与应用。真实使用的反馈回到实践，形成新的循环。右侧投入飞轮从资源投入出发，经过匹配支持和价值实现，再做效果验证，为下一轮支持提供依据。成长创造公共价值，投入支持持续实践。两个飞轮共用数据与评价：实践证据汇入内核，评价依据再反馈双轮。这个框架说明希望形成的持续机制，不代表已经实现的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已发布十章互动演示：https://www.x-lab.info/ai-for-all/presentation/#flywheels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这些主张有已有实践作为起点。OpenDigger 提供开源数据与指标，OpenRank 从协作网络理解贡献与影响力，OpenShare 探索能力、需求与资源之间的连接。它们分别提供数据、方法与生态方面的基础，但不能直接等同于本行动已经实现的普惠效果。当前可参与的行动，是公开共建宣言、图解、演示及反馈入口，并持续记录进展和局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已发布十章互动演示：https://www.x-lab.info/ai-for-all/presentation/#practice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>https://github.com/X-lab2017/open-digger</a:t>
            </a:r>
          </a:p>
          <a:p xmlns:a="http://schemas.openxmlformats.org/drawingml/2006/main">
            <a:r>
              <a:t>https://open-digger.cn/blog/2025-08-09-openrank-introduction</a:t>
            </a:r>
          </a:p>
          <a:p xmlns:a="http://schemas.openxmlformats.org/drawingml/2006/main">
            <a:r>
              <a:t>https://open-share.com/</a:t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参与可以从一个真实问题开始。开发者可以分享需要、使用反馈，贡献工具、文档和案例。开源社区可以组织学习与协作，把采用经验和改进建议带回来。合作伙伴可以提供资源与应用场景，共同开展可核验的实践。我们希望每项行动都说明参与对象、资源条件和核验方式。基础参与无需既有贡献分数，具体支持以每项行动的公开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已发布十章互动演示：https://www.x-lab.info/ai-for-all/presentation/#participate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最后把所有关系放在同一张图中。一个目标是 AI 普惠，让 AI 用得起，更用得好。开源与开发者两股力量支持创造。成长和投入两个飞轮，让公共价值创造与持续支持相互促进。数据与评价提供共同依据。成果经过数字公共品、采用与本地化，走向真实帮助，并从开发者、大众、全球南方三个互补视角检验受益。这些视角不是互斥人群，也不是先后阶段。欢迎访问宣言网站，从一个真实问题开始，和我们共同把愿景变成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X-lab AI 已发布十章互动演示：https://www.x-lab.info/ai-for-all/presentation/#panorama</a:t>
            </a:r>
          </a:p>
          <a:p xmlns:a="http://schemas.openxmlformats.org/drawingml/2006/main">
            <a:r>
              <a:t>宣言与框架：https://github.com/X-lab2017/ai-for-all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原始素材来源：https://www.x-lab.info/ai-for-all/presentation/assets/SOURCES.md</a:t>
            </a:r>
          </a:p>
          <a:p xmlns:a="http://schemas.openxmlformats.org/drawingml/2006/main">
            <a:r>
              <a:t>版本日期：2026-10-09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7fdc6032a49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b4c6a2a8b4a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ea164cfb541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1b10e62574f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ea7d20f3648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c44b32b6c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9AF52-1876-4581-8668-1F3F716B4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07F100-919C-4BC0-90B8-45DED63474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2D88AE-4D93-4E7C-B3A8-896D952EB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18E553-3D30-4DF7-BDDD-BDD9493E7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AEE3EE-CF1C-4FBC-ADC6-1BE29B633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801790-F66F-4E0B-91E3-C492F7D8A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31FB5F-B98C-4DDF-8AE7-37D652721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E96608-57ED-404B-9DC0-DF03DF1394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54863-23CD-4071-9B91-9C98710B9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681375-AA45-4CD8-A024-1C1A22651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433200f0a4359" /><Relationship Type="http://schemas.openxmlformats.org/officeDocument/2006/relationships/slideLayout" Target="/ppt/slideLayouts/slideLayout1.xml" Id="R0555e0effeb94a9f" /><Relationship Type="http://schemas.openxmlformats.org/officeDocument/2006/relationships/slideLayout" Target="/ppt/slideLayouts/slideLayout2.xml" Id="Rb32cef987b3341ba" /><Relationship Type="http://schemas.openxmlformats.org/officeDocument/2006/relationships/slideLayout" Target="/ppt/slideLayouts/slideLayout3.xml" Id="R522788b8a73a4a32" /><Relationship Type="http://schemas.openxmlformats.org/officeDocument/2006/relationships/slideLayout" Target="/ppt/slideLayouts/slideLayout4.xml" Id="R6d6d7587de464b72" /><Relationship Type="http://schemas.openxmlformats.org/officeDocument/2006/relationships/slideLayout" Target="/ppt/slideLayouts/slideLayout5.xml" Id="Rffdaae4e033747c5" /><Relationship Type="http://schemas.openxmlformats.org/officeDocument/2006/relationships/slideLayout" Target="/ppt/slideLayouts/slideLayout6.xml" Id="R5911440fb88f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5e0effeb94a9f"/>
    <p:sldLayoutId xmlns:r="http://schemas.openxmlformats.org/officeDocument/2006/relationships" id="2147483650" r:id="Rb32cef987b3341ba"/>
    <p:sldLayoutId xmlns:r="http://schemas.openxmlformats.org/officeDocument/2006/relationships" id="2147483651" r:id="R522788b8a73a4a32"/>
    <p:sldLayoutId xmlns:r="http://schemas.openxmlformats.org/officeDocument/2006/relationships" id="2147483652" r:id="R6d6d7587de464b72"/>
    <p:sldLayoutId xmlns:r="http://schemas.openxmlformats.org/officeDocument/2006/relationships" id="2147483653" r:id="Rffdaae4e033747c5"/>
    <p:sldLayoutId xmlns:r="http://schemas.openxmlformats.org/officeDocument/2006/relationships" id="2147483654" r:id="R5911440fb88f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b386810f444f2" /><Relationship Type="http://schemas.openxmlformats.org/officeDocument/2006/relationships/image" Target="/ppt/media/image.png" Id="R11df5b16683d440d" /><Relationship Type="http://schemas.openxmlformats.org/officeDocument/2006/relationships/image" Target="/ppt/media/image.jpeg" Id="R4cc6ecf5c0104574" /><Relationship Type="http://schemas.openxmlformats.org/officeDocument/2006/relationships/notesSlide" Target="/ppt/notesSlides/notesSlide1.xml" Id="Rc4601ee80aae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8734e262c4681" /><Relationship Type="http://schemas.openxmlformats.org/officeDocument/2006/relationships/image" Target="/ppt/media/image2.png" Id="R195bcddb44a34af5" /><Relationship Type="http://schemas.openxmlformats.org/officeDocument/2006/relationships/image" Target="/ppt/media/image3.png" Id="Re50e0aab87d7472d" /><Relationship Type="http://schemas.openxmlformats.org/officeDocument/2006/relationships/notesSlide" Target="/ppt/notesSlides/notesSlide2.xml" Id="R31d6ca21d1dc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a702caeb9401d" /><Relationship Type="http://schemas.openxmlformats.org/officeDocument/2006/relationships/image" Target="/ppt/media/image4.png" Id="Raf57577916c343c0" /><Relationship Type="http://schemas.openxmlformats.org/officeDocument/2006/relationships/image" Target="/ppt/media/image5.png" Id="R4787c4552dfb4a40" /><Relationship Type="http://schemas.openxmlformats.org/officeDocument/2006/relationships/hyperlink" Target="https://github.com/QwenLM/Qwen3" TargetMode="External" Id="Rcff261df85e14eed" /><Relationship Type="http://schemas.openxmlformats.org/officeDocument/2006/relationships/image" Target="/ppt/media/image6.png" Id="Re468d58dea0b44c5" /><Relationship Type="http://schemas.openxmlformats.org/officeDocument/2006/relationships/hyperlink" Target="https://github.com/deepseek-ai/DeepSeek-R1" TargetMode="External" Id="R05b7245c362f4163" /><Relationship Type="http://schemas.openxmlformats.org/officeDocument/2006/relationships/image" Target="/ppt/media/image7.png" Id="R34cebf29a8974f7d" /><Relationship Type="http://schemas.openxmlformats.org/officeDocument/2006/relationships/hyperlink" Target="https://github.com/zai-org/GLM-4.5" TargetMode="External" Id="R23f29dd5d30b41a8" /><Relationship Type="http://schemas.openxmlformats.org/officeDocument/2006/relationships/image" Target="/ppt/media/image8.png" Id="Rc799bda9cdbd48fd" /><Relationship Type="http://schemas.openxmlformats.org/officeDocument/2006/relationships/hyperlink" Target="https://github.com/MoonshotAI/Kimi-K2" TargetMode="External" Id="R98a76292e21d47c1" /><Relationship Type="http://schemas.openxmlformats.org/officeDocument/2006/relationships/image" Target="/ppt/media/image9.png" Id="R5d3a191c85ab4080" /><Relationship Type="http://schemas.openxmlformats.org/officeDocument/2006/relationships/hyperlink" Target="https://github.com/Tencent-Hunyuan/Hunyuan-A13B" TargetMode="External" Id="R457c6c3521a9432a" /><Relationship Type="http://schemas.openxmlformats.org/officeDocument/2006/relationships/notesSlide" Target="/ppt/notesSlides/notesSlide3.xml" Id="R651631b1a01e44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ed71eab494aa8" /><Relationship Type="http://schemas.openxmlformats.org/officeDocument/2006/relationships/image" Target="/ppt/media/image10.png" Id="Rb76ba5256bde4ccb" /><Relationship Type="http://schemas.openxmlformats.org/officeDocument/2006/relationships/image" Target="/ppt/media/image11.png" Id="R826c249af3a94fd1" /><Relationship Type="http://schemas.openxmlformats.org/officeDocument/2006/relationships/image" Target="/ppt/media/image12.png" Id="R4536c96334e34953" /><Relationship Type="http://schemas.openxmlformats.org/officeDocument/2006/relationships/notesSlide" Target="/ppt/notesSlides/notesSlide4.xml" Id="R4b1ada86cba2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f940569944912" /><Relationship Type="http://schemas.openxmlformats.org/officeDocument/2006/relationships/image" Target="/ppt/media/image13.png" Id="Rcd6fbcbf7ddf4366" /><Relationship Type="http://schemas.openxmlformats.org/officeDocument/2006/relationships/image" Target="/ppt/media/image14.png" Id="R35f465b168ad4be2" /><Relationship Type="http://schemas.openxmlformats.org/officeDocument/2006/relationships/notesSlide" Target="/ppt/notesSlides/notesSlide5.xml" Id="Rb0f7e5759e034d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9a092e5364c4a" /><Relationship Type="http://schemas.openxmlformats.org/officeDocument/2006/relationships/image" Target="/ppt/media/image15.png" Id="R5e431a88b3ee437c" /><Relationship Type="http://schemas.openxmlformats.org/officeDocument/2006/relationships/image" Target="/ppt/media/image16.png" Id="R378c936fdf1a4f22" /><Relationship Type="http://schemas.openxmlformats.org/officeDocument/2006/relationships/image" Target="/ppt/media/image17.png" Id="R5266a773dfe24784" /><Relationship Type="http://schemas.openxmlformats.org/officeDocument/2006/relationships/image" Target="/ppt/media/image18.png" Id="Rc4e6afca23b34bd5" /><Relationship Type="http://schemas.openxmlformats.org/officeDocument/2006/relationships/image" Target="/ppt/media/image19.png" Id="Rf90be24e3a36459d" /><Relationship Type="http://schemas.openxmlformats.org/officeDocument/2006/relationships/notesSlide" Target="/ppt/notesSlides/notesSlide6.xml" Id="R2bfa65635c5b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c32e895a74e10" /><Relationship Type="http://schemas.openxmlformats.org/officeDocument/2006/relationships/image" Target="/ppt/media/image20.png" Id="R95845a00746848b7" /><Relationship Type="http://schemas.openxmlformats.org/officeDocument/2006/relationships/notesSlide" Target="/ppt/notesSlides/notesSlide7.xml" Id="Rcf2797828e5640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7e9ca94b4448d" /><Relationship Type="http://schemas.openxmlformats.org/officeDocument/2006/relationships/image" Target="/ppt/media/image21.png" Id="R0804e5e7df0e4b57" /><Relationship Type="http://schemas.openxmlformats.org/officeDocument/2006/relationships/image" Target="/ppt/media/image22.png" Id="Refa1c9220c764742" /><Relationship Type="http://schemas.openxmlformats.org/officeDocument/2006/relationships/hyperlink" Target="https://github.com/X-lab2017/open-digger" TargetMode="External" Id="Rce5cbd44a1854b3b" /><Relationship Type="http://schemas.openxmlformats.org/officeDocument/2006/relationships/image" Target="/ppt/media/image23.png" Id="R561f8bea1b1149e0" /><Relationship Type="http://schemas.openxmlformats.org/officeDocument/2006/relationships/hyperlink" Target="https://open-digger.cn/blog/2025-08-09-openrank-introduction" TargetMode="External" Id="R2ed9a163dcb640c9" /><Relationship Type="http://schemas.openxmlformats.org/officeDocument/2006/relationships/image" Target="/ppt/media/image24.png" Id="R0622fc18cdd643db" /><Relationship Type="http://schemas.openxmlformats.org/officeDocument/2006/relationships/hyperlink" Target="https://open-share.com/" TargetMode="External" Id="Rad7dcc3b1e4d4ddf" /><Relationship Type="http://schemas.openxmlformats.org/officeDocument/2006/relationships/notesSlide" Target="/ppt/notesSlides/notesSlide8.xml" Id="R4261270803a842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aa16457ea435d" /><Relationship Type="http://schemas.openxmlformats.org/officeDocument/2006/relationships/image" Target="/ppt/media/image25.png" Id="R1b1333d818494eca" /><Relationship Type="http://schemas.openxmlformats.org/officeDocument/2006/relationships/image" Target="/ppt/media/image26.png" Id="R0939fb492ab94ec8" /><Relationship Type="http://schemas.openxmlformats.org/officeDocument/2006/relationships/hyperlink" Target="https://github.com/X-lab2017/ai-for-all/blob/main/CONTRIBUTING.md" TargetMode="External" Id="R52769eb924264dcd" /><Relationship Type="http://schemas.openxmlformats.org/officeDocument/2006/relationships/image" Target="/ppt/media/image27.png" Id="R2c36cb9543ab4c6a" /><Relationship Type="http://schemas.openxmlformats.org/officeDocument/2006/relationships/hyperlink" Target="https://github.com/X-lab2017/ai-for-all/issues" TargetMode="External" Id="Rd5ee4296551743fb" /><Relationship Type="http://schemas.openxmlformats.org/officeDocument/2006/relationships/image" Target="/ppt/media/image28.png" Id="R9af033be814b4f18" /><Relationship Type="http://schemas.openxmlformats.org/officeDocument/2006/relationships/hyperlink" Target="https://github.com/X-lab2017/ai-for-all/issues/new" TargetMode="External" Id="R06a9ba133b244eee" /><Relationship Type="http://schemas.openxmlformats.org/officeDocument/2006/relationships/notesSlide" Target="/ppt/notesSlides/notesSlide9.xml" Id="R08672b0ea41e4f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a5d48e2974ce8" /><Relationship Type="http://schemas.openxmlformats.org/officeDocument/2006/relationships/image" Target="/ppt/media/image29.png" Id="Re8b00c1265c24c0f" /><Relationship Type="http://schemas.openxmlformats.org/officeDocument/2006/relationships/hyperlink" Target="https://www.x-lab.info/ai-for-all/" TargetMode="External" Id="Rbc3e0a78e2364c78" /><Relationship Type="http://schemas.openxmlformats.org/officeDocument/2006/relationships/notesSlide" Target="/ppt/notesSlides/notesSlide10.xml" Id="Ra648438fee4c49af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C2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panel-1">
            <a:extLst>
              <a:ext uri="{FF2B5EF4-FFF2-40B4-BE49-F238E27FC236}">
                <ns2:creationId id="{77CF4FCD-871C-4001-8614-B1183F2532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5FAA2D06-8EED-49FF-B82D-3B024ADFE6F3}"/>
              </a:ext>
            </a:extLst>
          </p:cNvPr>
          <p:cNvPicPr>
            <a:picLocks noChangeAspect="1"/>
          </p:cNvPicPr>
          <p:nvPr/>
        </p:nvPicPr>
        <p:blipFill>
          <a:blip r:embed="R11df5b16683d440d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2">
            <a:extLst>
              <a:ext uri="{FF2B5EF4-FFF2-40B4-BE49-F238E27FC236}">
                <ns2:creationId id="{051E72F1-A037-46BF-8FF0-9F9FC2423D9D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3">
            <a:extLst>
              <a:ext uri="{FF2B5EF4-FFF2-40B4-BE49-F238E27FC236}">
                <ns2:creationId id="{86F59D4B-9BCC-4498-8EE7-292A87BC7103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01 / 10</a:t>
            </a:r>
          </a:p>
        </p:txBody>
      </p:sp>
      <p:sp>
        <p:nvSpPr>
          <p:cNvPr id="5" name="line-4">
            <a:extLst>
              <a:ext uri="{FF2B5EF4-FFF2-40B4-BE49-F238E27FC236}">
                <ns2:creationId id="{98AAE95A-E38F-4D1D-AECD-1A9F6E40948F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6" name="text-5">
            <a:extLst>
              <a:ext uri="{FF2B5EF4-FFF2-40B4-BE49-F238E27FC236}">
                <ns2:creationId id="{D143A8DC-508A-4C0F-9227-6CFD9F86B18D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7" name="text-6">
            <a:extLst>
              <a:ext uri="{FF2B5EF4-FFF2-40B4-BE49-F238E27FC236}">
                <ns2:creationId id="{EE728A6F-FD86-4675-999E-955989784CAE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8" name="text-7">
            <a:extLst>
              <a:ext uri="{FF2B5EF4-FFF2-40B4-BE49-F238E27FC236}">
                <ns2:creationId id="{CF7C5013-BD2C-4C8A-9DA0-F8F5A28A5F87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7620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8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9" name="text-8">
            <a:extLst>
              <a:ext uri="{FF2B5EF4-FFF2-40B4-BE49-F238E27FC236}">
                <ns2:creationId id="{AB8A1EBF-F154-4AD4-AB2A-E92A90C185D7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8858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8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58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58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让 AI 用得起，</a:t>
            </a:r>
          </a:p>
        </p:txBody>
      </p:sp>
      <p:sp>
        <p:nvSpPr>
          <p:cNvPr id="10" name="text-9">
            <a:extLst>
              <a:ext uri="{FF2B5EF4-FFF2-40B4-BE49-F238E27FC236}">
                <ns2:creationId id="{0D919436-61BB-4003-9CF5-B8F9EED8D37C}"/>
              </a:ext>
            </a:extLst>
          </p:cNvPr>
          <p:cNvSpPr>
            <a:spLocks noGrp="1"/>
          </p:cNvSpPr>
          <p:nvPr/>
        </p:nvSpPr>
        <p:spPr>
          <a:xfrm>
            <a:off x="666750" y="3914775"/>
            <a:ext cx="857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8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58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58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更用得好。</a:t>
            </a:r>
          </a:p>
        </p:txBody>
      </p:sp>
      <p:sp>
        <p:nvSpPr>
          <p:cNvPr id="11" name="text-10">
            <a:extLst>
              <a:ext uri="{FF2B5EF4-FFF2-40B4-BE49-F238E27FC236}">
                <ns2:creationId id="{9DD4C156-DA51-47E3-9B19-94307D7A5063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从开发者社区出发，</a:t>
            </a:r>
          </a:p>
        </p:txBody>
      </p:sp>
      <p:sp>
        <p:nvSpPr>
          <p:cNvPr id="12" name="text-11">
            <a:extLst>
              <a:ext uri="{FF2B5EF4-FFF2-40B4-BE49-F238E27FC236}">
                <ns2:creationId id="{FD00E5F0-97AF-4DA1-970C-EC8CC795D583}"/>
              </a:ext>
            </a:extLst>
          </p:cNvPr>
          <p:cNvSpPr>
            <a:spLocks noGrp="1"/>
          </p:cNvSpPr>
          <p:nvPr/>
        </p:nvSpPr>
        <p:spPr>
          <a:xfrm>
            <a:off x="714375" y="5829300"/>
            <a:ext cx="866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让开放的技术，成为更多人的机会与能力。</a:t>
            </a:r>
          </a:p>
        </p:txBody>
      </p:sp>
      <p:pic>
        <p:nvPicPr>
          <p:cNvPr id="13" name="">
            <a:extLst>
              <a:ext uri="{FF2B5EF4-FFF2-40B4-BE49-F238E27FC236}">
                <ns2:creationId id="{192F11E0-006E-4453-A051-6C9287CEE34A}"/>
              </a:ext>
            </a:extLst>
          </p:cNvPr>
          <p:cNvPicPr>
            <a:picLocks noChangeAspect="1"/>
          </p:cNvPicPr>
          <p:nvPr/>
        </p:nvPicPr>
        <p:blipFill>
          <a:blip r:embed="R4cc6ecf5c0104574"/>
          <a:stretch/>
        </p:blipFill>
        <p:spPr>
          <a:xfrm>
            <a:off x="8572500" y="2181357"/>
            <a:ext cx="5905500" cy="4495536"/>
          </a:xfrm>
          <a:prstGeom prst="rect">
            <a:avLst/>
          </a:prstGeom>
        </p:spPr>
      </p:pic>
      <p:sp>
        <p:nvSpPr>
          <p:cNvPr id="14" name="text-12">
            <a:extLst>
              <a:ext uri="{FF2B5EF4-FFF2-40B4-BE49-F238E27FC236}">
                <ns2:creationId id="{B538CC69-9019-4D54-8F95-10D2EFC97D9F}"/>
              </a:ext>
            </a:extLst>
          </p:cNvPr>
          <p:cNvSpPr>
            <a:spLocks noGrp="1"/>
          </p:cNvSpPr>
          <p:nvPr/>
        </p:nvSpPr>
        <p:spPr>
          <a:xfrm>
            <a:off x="714375" y="7324725"/>
            <a:ext cx="1190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一个目标    两股力量    一个内核    两个飞轮    三重普惠</a:t>
            </a:r>
          </a:p>
        </p:txBody>
      </p:sp>
    </p:spTree>
    <p:extLst>
      <p:ext uri="{BB962C8B-B14F-4D97-AF65-F5344CB8AC3E}">
        <ns4:creationId val="947454349"/>
      </p:ext>
    </p:extLst>
  </p:cSld>
  <p:transition spd="fast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5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panel-13">
            <a:extLst>
              <a:ext uri="{FF2B5EF4-FFF2-40B4-BE49-F238E27FC236}">
                <ns2:creationId id="{240EE13E-2D78-4ED4-B0EC-9C21956644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71D7069B-4659-4060-B753-C0ADCB4C3831}"/>
              </a:ext>
            </a:extLst>
          </p:cNvPr>
          <p:cNvPicPr>
            <a:picLocks noChangeAspect="1"/>
          </p:cNvPicPr>
          <p:nvPr/>
        </p:nvPicPr>
        <p:blipFill>
          <a:blip r:embed="R195bcddb44a34af5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14">
            <a:extLst>
              <a:ext uri="{FF2B5EF4-FFF2-40B4-BE49-F238E27FC236}">
                <ns2:creationId id="{4EC00D8E-F859-47E2-97EA-2837DF4EFF6F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15">
            <a:extLst>
              <a:ext uri="{FF2B5EF4-FFF2-40B4-BE49-F238E27FC236}">
                <ns2:creationId id="{814E7972-D958-4ABD-883C-7EBBBA4A2DA3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02 / 10</a:t>
            </a:r>
          </a:p>
        </p:txBody>
      </p:sp>
      <p:sp>
        <p:nvSpPr>
          <p:cNvPr id="5" name="text-16">
            <a:extLst>
              <a:ext uri="{FF2B5EF4-FFF2-40B4-BE49-F238E27FC236}">
                <ns2:creationId id="{F6C52583-B276-478E-AD4D-41C8BD039A41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Linux 35 年</a:t>
            </a:r>
          </a:p>
        </p:txBody>
      </p:sp>
      <p:sp>
        <p:nvSpPr>
          <p:cNvPr id="6" name="text-17">
            <a:extLst>
              <a:ext uri="{FF2B5EF4-FFF2-40B4-BE49-F238E27FC236}">
                <ns2:creationId id="{3B6F7D98-BE5C-4FA2-8AC2-220035A705A5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开放协作，</a:t>
            </a:r>
            <a:r>
              <a:rPr sz="360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成为共同基础</a:t>
            </a:r>
          </a:p>
        </p:txBody>
      </p:sp>
      <p:sp>
        <p:nvSpPr>
          <p:cNvPr id="7" name="text-18">
            <a:extLst>
              <a:ext uri="{FF2B5EF4-FFF2-40B4-BE49-F238E27FC236}">
                <ns2:creationId id="{D4EAA0AB-7CD4-48D6-B727-45F9EB61CC47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Linux 的三十五年，让我们看见长期协作的力量。</a:t>
            </a:r>
          </a:p>
        </p:txBody>
      </p:sp>
      <p:sp>
        <p:nvSpPr>
          <p:cNvPr id="8" name="line-19">
            <a:extLst>
              <a:ext uri="{FF2B5EF4-FFF2-40B4-BE49-F238E27FC236}">
                <ns2:creationId id="{DC484CAA-1B87-48DD-9ADA-1DE5C761EB50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9" name="text-20">
            <a:extLst>
              <a:ext uri="{FF2B5EF4-FFF2-40B4-BE49-F238E27FC236}">
                <ns2:creationId id="{C7483D37-E1E0-4ABB-867E-8849BD9867E5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21">
            <a:extLst>
              <a:ext uri="{FF2B5EF4-FFF2-40B4-BE49-F238E27FC236}">
                <ns2:creationId id="{76CB3EC7-9D77-4B80-8EEB-82F1F1AE1F38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text-22">
            <a:extLst>
              <a:ext uri="{FF2B5EF4-FFF2-40B4-BE49-F238E27FC236}">
                <ns2:creationId id="{765B3852-0430-43BE-8EE1-266DDB6A4499}"/>
              </a:ext>
            </a:extLst>
          </p:cNvPr>
          <p:cNvSpPr>
            <a:spLocks noGrp="1"/>
          </p:cNvSpPr>
          <p:nvPr/>
        </p:nvSpPr>
        <p:spPr>
          <a:xfrm>
            <a:off x="704850" y="294322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1991 — 2026</a:t>
            </a:r>
          </a:p>
        </p:txBody>
      </p:sp>
      <p:sp>
        <p:nvSpPr>
          <p:cNvPr id="12" name="step1:text-23">
            <a:extLst>
              <a:ext uri="{FF2B5EF4-FFF2-40B4-BE49-F238E27FC236}">
                <ns2:creationId id="{968675A1-B69F-446A-B056-D6A7C563C42C}"/>
              </a:ext>
            </a:extLst>
          </p:cNvPr>
          <p:cNvSpPr>
            <a:spLocks noGrp="1"/>
          </p:cNvSpPr>
          <p:nvPr/>
        </p:nvSpPr>
        <p:spPr>
          <a:xfrm>
            <a:off x="600075" y="3305175"/>
            <a:ext cx="2286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7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7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35</a:t>
            </a:r>
          </a:p>
        </p:txBody>
      </p:sp>
      <p:sp>
        <p:nvSpPr>
          <p:cNvPr id="13" name="step1:text-24">
            <a:extLst>
              <a:ext uri="{FF2B5EF4-FFF2-40B4-BE49-F238E27FC236}">
                <ns2:creationId id="{E7C7807E-D502-48AA-9BF9-0E4AAE753BBD}"/>
              </a:ext>
            </a:extLst>
          </p:cNvPr>
          <p:cNvSpPr>
            <a:spLocks noGrp="1"/>
          </p:cNvSpPr>
          <p:nvPr/>
        </p:nvSpPr>
        <p:spPr>
          <a:xfrm>
            <a:off x="2914650" y="3933825"/>
            <a:ext cx="228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YEARS</a:t>
            </a:r>
          </a:p>
          <a:p>
            <a:pPr algn="l">
              <a:defRPr sz="18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OF LINUX</a:t>
            </a:r>
          </a:p>
        </p:txBody>
      </p:sp>
      <p:sp>
        <p:nvSpPr>
          <p:cNvPr id="14" name="step1:text-25">
            <a:extLst>
              <a:ext uri="{FF2B5EF4-FFF2-40B4-BE49-F238E27FC236}">
                <ns2:creationId id="{1F794946-C1BE-4128-A228-E303690584E7}"/>
              </a:ext>
            </a:extLst>
          </p:cNvPr>
          <p:cNvSpPr>
            <a:spLocks noGrp="1"/>
          </p:cNvSpPr>
          <p:nvPr/>
        </p:nvSpPr>
        <p:spPr>
          <a:xfrm>
            <a:off x="704850" y="5029200"/>
            <a:ext cx="5524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7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77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7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从个人项目，</a:t>
            </a:r>
          </a:p>
          <a:p>
            <a:pPr algn="l">
              <a:defRPr sz="277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7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走向共同维护的基础。</a:t>
            </a:r>
          </a:p>
        </p:txBody>
      </p:sp>
      <p:sp>
        <p:nvSpPr>
          <p:cNvPr id="15" name="step1:text-26">
            <a:extLst>
              <a:ext uri="{FF2B5EF4-FFF2-40B4-BE49-F238E27FC236}">
                <ns2:creationId id="{CAAECD52-7F8A-43F0-9111-7BC507EB74E0}"/>
              </a:ext>
            </a:extLst>
          </p:cNvPr>
          <p:cNvSpPr>
            <a:spLocks noGrp="1"/>
          </p:cNvSpPr>
          <p:nvPr/>
        </p:nvSpPr>
        <p:spPr>
          <a:xfrm>
            <a:off x="723900" y="6296025"/>
            <a:ext cx="523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开发者、社区与组织持续协作，</a:t>
            </a:r>
          </a:p>
          <a:p>
            <a:pPr algn="l">
              <a:defRPr sz="17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让开放成果进入真实世界。</a:t>
            </a:r>
          </a:p>
        </p:txBody>
      </p:sp>
      <p:pic>
        <p:nvPicPr>
          <p:cNvPr id="16" name="">
            <a:extLst>
              <a:ext uri="{FF2B5EF4-FFF2-40B4-BE49-F238E27FC236}">
                <ns2:creationId id="{C929CE95-DD2F-46F1-8358-95F85C0B646D}"/>
              </a:ext>
            </a:extLst>
          </p:cNvPr>
          <p:cNvPicPr>
            <a:picLocks noChangeAspect="1"/>
          </p:cNvPicPr>
          <p:nvPr/>
        </p:nvPicPr>
        <p:blipFill>
          <a:blip r:embed="Re50e0aab87d7472d"/>
          <a:stretch/>
        </p:blipFill>
        <p:spPr>
          <a:xfrm>
            <a:off x="6296025" y="2939748"/>
            <a:ext cx="8258175" cy="4321778"/>
          </a:xfrm>
          <a:prstGeom prst="rect">
            <a:avLst/>
          </a:prstGeom>
        </p:spPr>
      </p:pic>
      <p:sp>
        <p:nvSpPr>
          <p:cNvPr id="17" name="step2:text-27">
            <a:extLst>
              <a:ext uri="{FF2B5EF4-FFF2-40B4-BE49-F238E27FC236}">
                <ns2:creationId id="{844D35F6-6ED2-49AB-AEE9-AE2C4B471323}"/>
              </a:ext>
            </a:extLst>
          </p:cNvPr>
          <p:cNvSpPr>
            <a:spLocks noGrp="1"/>
          </p:cNvSpPr>
          <p:nvPr/>
        </p:nvSpPr>
        <p:spPr>
          <a:xfrm>
            <a:off x="6324600" y="73723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Linux Foundation · 35 周年报告</a:t>
            </a:r>
          </a:p>
        </p:txBody>
      </p:sp>
      <p:sp>
        <p:nvSpPr>
          <p:cNvPr id="18" name="step3:line-28">
            <a:extLst>
              <a:ext uri="{FF2B5EF4-FFF2-40B4-BE49-F238E27FC236}">
                <ns2:creationId id="{FEE9BD63-18F6-464E-A7B4-940AC1FD6CEF}"/>
              </a:ext>
            </a:extLst>
          </p:cNvPr>
          <p:cNvSpPr>
            <a:spLocks noGrp="1"/>
          </p:cNvSpPr>
          <p:nvPr/>
        </p:nvSpPr>
        <p:spPr>
          <a:xfrm>
            <a:off x="685800" y="7686675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19" name="step3:text-29">
            <a:extLst>
              <a:ext uri="{FF2B5EF4-FFF2-40B4-BE49-F238E27FC236}">
                <ns2:creationId id="{DD68AC02-FFB5-47E5-8406-3F9F0DBF5A30}"/>
              </a:ext>
            </a:extLst>
          </p:cNvPr>
          <p:cNvSpPr>
            <a:spLocks noGrp="1"/>
          </p:cNvSpPr>
          <p:nvPr/>
        </p:nvSpPr>
        <p:spPr>
          <a:xfrm>
            <a:off x="723900" y="7200900"/>
            <a:ext cx="5429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0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开放是起点，持续共建让价值生长。</a:t>
            </a:r>
          </a:p>
        </p:txBody>
      </p:sp>
    </p:spTree>
    <p:extLst>
      <p:ext uri="{BB962C8B-B14F-4D97-AF65-F5344CB8AC3E}">
        <ns4:creationId val="448150518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5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9" name="panel-30">
            <a:extLst>
              <a:ext uri="{FF2B5EF4-FFF2-40B4-BE49-F238E27FC236}">
                <ns2:creationId id="{6BDAEB8A-8559-413C-83FD-DABC31D160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32B2C38F-7EA3-4B43-BA40-16CB746C2337}"/>
              </a:ext>
            </a:extLst>
          </p:cNvPr>
          <p:cNvPicPr>
            <a:picLocks noChangeAspect="1"/>
          </p:cNvPicPr>
          <p:nvPr/>
        </p:nvPicPr>
        <p:blipFill>
          <a:blip r:embed="Raf57577916c343c0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31">
            <a:extLst>
              <a:ext uri="{FF2B5EF4-FFF2-40B4-BE49-F238E27FC236}">
                <ns2:creationId id="{E89F3146-EA3E-4FDD-8C0B-2476DE563ECA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32">
            <a:extLst>
              <a:ext uri="{FF2B5EF4-FFF2-40B4-BE49-F238E27FC236}">
                <ns2:creationId id="{9A24C0E2-9001-477D-B27B-1D5734098FE1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03 / 10</a:t>
            </a:r>
          </a:p>
        </p:txBody>
      </p:sp>
      <p:sp>
        <p:nvSpPr>
          <p:cNvPr id="5" name="text-33">
            <a:extLst>
              <a:ext uri="{FF2B5EF4-FFF2-40B4-BE49-F238E27FC236}">
                <ns2:creationId id="{1699C98D-7CA3-485A-A1B7-7844D6B6ADDE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开放模型</a:t>
            </a:r>
          </a:p>
        </p:txBody>
      </p:sp>
      <p:sp>
        <p:nvSpPr>
          <p:cNvPr id="6" name="text-34">
            <a:extLst>
              <a:ext uri="{FF2B5EF4-FFF2-40B4-BE49-F238E27FC236}">
                <ns2:creationId id="{B022B288-8390-4A75-AD0F-AB779B928D9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开放的能力，</a:t>
            </a:r>
            <a:r>
              <a:rPr sz="360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更多人的创造</a:t>
            </a:r>
          </a:p>
        </p:txBody>
      </p:sp>
      <p:sp>
        <p:nvSpPr>
          <p:cNvPr id="7" name="text-35">
            <a:extLst>
              <a:ext uri="{FF2B5EF4-FFF2-40B4-BE49-F238E27FC236}">
                <ns2:creationId id="{E92F0D6F-6BD2-4BAE-BC46-D45EE663FD0B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从 Linux 的开放协作，到 AI 时代的开放模型生态。</a:t>
            </a:r>
          </a:p>
        </p:txBody>
      </p:sp>
      <p:sp>
        <p:nvSpPr>
          <p:cNvPr id="8" name="line-36">
            <a:extLst>
              <a:ext uri="{FF2B5EF4-FFF2-40B4-BE49-F238E27FC236}">
                <ns2:creationId id="{AB62DD6F-2076-41A7-ADE4-5B61A835BD96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9" name="text-37">
            <a:extLst>
              <a:ext uri="{FF2B5EF4-FFF2-40B4-BE49-F238E27FC236}">
                <ns2:creationId id="{860E3FF4-D989-44C1-9D20-9B8C43D0BC53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38">
            <a:extLst>
              <a:ext uri="{FF2B5EF4-FFF2-40B4-BE49-F238E27FC236}">
                <ns2:creationId id="{DD8828F9-0C5C-4A5D-89CA-160C8B031A0D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panel-39">
            <a:extLst>
              <a:ext uri="{FF2B5EF4-FFF2-40B4-BE49-F238E27FC236}">
                <ns2:creationId id="{B2429AFA-1DF6-4F04-B347-4D130124090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628900" cy="30670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12" name="">
            <a:extLst>
              <a:ext uri="{FF2B5EF4-FFF2-40B4-BE49-F238E27FC236}">
                <ns2:creationId id="{6AD594CE-3F0C-472E-ACFD-BED6FB6B60CD}"/>
              </a:ext>
            </a:extLst>
          </p:cNvPr>
          <p:cNvPicPr>
            <a:picLocks noChangeAspect="1"/>
          </p:cNvPicPr>
          <p:nvPr/>
        </p:nvPicPr>
        <p:blipFill>
          <a:blip r:embed="R4787c4552dfb4a40"/>
          <a:stretch/>
        </p:blipFill>
        <p:spPr>
          <a:xfrm>
            <a:off x="895350" y="3355321"/>
            <a:ext cx="2209800" cy="871257"/>
          </a:xfrm>
          <a:prstGeom prst="rect">
            <a:avLst/>
          </a:prstGeom>
        </p:spPr>
      </p:pic>
      <p:sp>
        <p:nvSpPr>
          <p:cNvPr id="13" name="step1:text-40">
            <a:extLst>
              <a:ext uri="{FF2B5EF4-FFF2-40B4-BE49-F238E27FC236}">
                <ns2:creationId id="{D41E0CB5-1E09-4D3F-B908-E7D6C62C1852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  <a:hlinkClick r:id="Rcff261df85e14eed"/>
              </a:rPr>
              <a:t>阿里巴巴</a:t>
            </a:r>
          </a:p>
        </p:txBody>
      </p:sp>
      <p:sp>
        <p:nvSpPr>
          <p:cNvPr id="14" name="step1:text-41">
            <a:extLst>
              <a:ext uri="{FF2B5EF4-FFF2-40B4-BE49-F238E27FC236}">
                <ns2:creationId id="{6E5BE51D-E387-4E97-9203-B8A0101EFFA2}"/>
              </a:ext>
            </a:extLst>
          </p:cNvPr>
          <p:cNvSpPr>
            <a:spLocks noGrp="1"/>
          </p:cNvSpPr>
          <p:nvPr/>
        </p:nvSpPr>
        <p:spPr>
          <a:xfrm>
            <a:off x="847725" y="5086350"/>
            <a:ext cx="2362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（Qwen）</a:t>
            </a:r>
          </a:p>
        </p:txBody>
      </p:sp>
      <p:sp>
        <p:nvSpPr>
          <p:cNvPr id="15" name="step1:text-42">
            <a:extLst>
              <a:ext uri="{FF2B5EF4-FFF2-40B4-BE49-F238E27FC236}">
                <ns2:creationId id="{6A1D65CC-B23D-460D-A1FE-8B25296A631E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</a:t>
            </a:r>
          </a:p>
        </p:txBody>
      </p:sp>
      <p:sp>
        <p:nvSpPr>
          <p:cNvPr id="16" name="step1:text-43">
            <a:extLst>
              <a:ext uri="{FF2B5EF4-FFF2-40B4-BE49-F238E27FC236}">
                <ns2:creationId id="{B8EDBDB4-0A5A-446F-BC09-14CAC7045C4D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Qwen3</a:t>
            </a:r>
          </a:p>
        </p:txBody>
      </p:sp>
      <p:sp>
        <p:nvSpPr>
          <p:cNvPr id="17" name="step1:panel-44">
            <a:extLst>
              <a:ext uri="{FF2B5EF4-FFF2-40B4-BE49-F238E27FC236}">
                <ns2:creationId id="{A242640D-B2B8-443A-8EA3-61ACAF018560}"/>
              </a:ext>
            </a:extLst>
          </p:cNvPr>
          <p:cNvSpPr>
            <a:spLocks noGrp="1"/>
          </p:cNvSpPr>
          <p:nvPr/>
        </p:nvSpPr>
        <p:spPr>
          <a:xfrm>
            <a:off x="3495675" y="2952750"/>
            <a:ext cx="2628900" cy="30670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18" name="">
            <a:extLst>
              <a:ext uri="{FF2B5EF4-FFF2-40B4-BE49-F238E27FC236}">
                <ns2:creationId id="{C1979905-911F-41B8-90F9-DF965A7214B7}"/>
              </a:ext>
            </a:extLst>
          </p:cNvPr>
          <p:cNvPicPr>
            <a:picLocks noChangeAspect="1"/>
          </p:cNvPicPr>
          <p:nvPr/>
        </p:nvPicPr>
        <p:blipFill>
          <a:blip r:embed="Re468d58dea0b44c5"/>
          <a:stretch/>
        </p:blipFill>
        <p:spPr>
          <a:xfrm>
            <a:off x="3705225" y="3556371"/>
            <a:ext cx="2209800" cy="469158"/>
          </a:xfrm>
          <a:prstGeom prst="rect">
            <a:avLst/>
          </a:prstGeom>
        </p:spPr>
      </p:pic>
      <p:sp>
        <p:nvSpPr>
          <p:cNvPr id="19" name="step1:text-45">
            <a:extLst>
              <a:ext uri="{FF2B5EF4-FFF2-40B4-BE49-F238E27FC236}">
                <ns2:creationId id="{4503C9CB-F650-473B-90B9-6EC09E3E678B}"/>
              </a:ext>
            </a:extLst>
          </p:cNvPr>
          <p:cNvSpPr>
            <a:spLocks noGrp="1"/>
          </p:cNvSpPr>
          <p:nvPr/>
        </p:nvSpPr>
        <p:spPr>
          <a:xfrm>
            <a:off x="3724275" y="46482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  <a:hlinkClick r:id="R05b7245c362f4163"/>
              </a:rPr>
              <a:t>深度求索</a:t>
            </a:r>
          </a:p>
        </p:txBody>
      </p:sp>
      <p:sp>
        <p:nvSpPr>
          <p:cNvPr id="20" name="step1:text-46">
            <a:extLst>
              <a:ext uri="{FF2B5EF4-FFF2-40B4-BE49-F238E27FC236}">
                <ns2:creationId id="{9790793F-1F42-4BD4-B75E-113C035F3BB2}"/>
              </a:ext>
            </a:extLst>
          </p:cNvPr>
          <p:cNvSpPr>
            <a:spLocks noGrp="1"/>
          </p:cNvSpPr>
          <p:nvPr/>
        </p:nvSpPr>
        <p:spPr>
          <a:xfrm>
            <a:off x="3657600" y="5086350"/>
            <a:ext cx="2362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（DeepSeek）</a:t>
            </a:r>
          </a:p>
        </p:txBody>
      </p:sp>
      <p:sp>
        <p:nvSpPr>
          <p:cNvPr id="21" name="step1:text-47">
            <a:extLst>
              <a:ext uri="{FF2B5EF4-FFF2-40B4-BE49-F238E27FC236}">
                <ns2:creationId id="{9B8B74DC-EA71-4E4B-A7BE-DEF0934857A4}"/>
              </a:ext>
            </a:extLst>
          </p:cNvPr>
          <p:cNvSpPr>
            <a:spLocks noGrp="1"/>
          </p:cNvSpPr>
          <p:nvPr/>
        </p:nvSpPr>
        <p:spPr>
          <a:xfrm>
            <a:off x="3724275" y="556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</a:t>
            </a:r>
          </a:p>
        </p:txBody>
      </p:sp>
      <p:sp>
        <p:nvSpPr>
          <p:cNvPr id="22" name="step1:text-48">
            <a:extLst>
              <a:ext uri="{FF2B5EF4-FFF2-40B4-BE49-F238E27FC236}">
                <ns2:creationId id="{1E1AF9BC-A739-4E93-B238-86DFDA69FA9E}"/>
              </a:ext>
            </a:extLst>
          </p:cNvPr>
          <p:cNvSpPr>
            <a:spLocks noGrp="1"/>
          </p:cNvSpPr>
          <p:nvPr/>
        </p:nvSpPr>
        <p:spPr>
          <a:xfrm>
            <a:off x="3724275" y="578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DeepSeek-R1</a:t>
            </a:r>
          </a:p>
        </p:txBody>
      </p:sp>
      <p:sp>
        <p:nvSpPr>
          <p:cNvPr id="23" name="step1:panel-49">
            <a:extLst>
              <a:ext uri="{FF2B5EF4-FFF2-40B4-BE49-F238E27FC236}">
                <ns2:creationId id="{B900C2C0-FFBA-4081-8391-FBA8F636CE20}"/>
              </a:ext>
            </a:extLst>
          </p:cNvPr>
          <p:cNvSpPr>
            <a:spLocks noGrp="1"/>
          </p:cNvSpPr>
          <p:nvPr/>
        </p:nvSpPr>
        <p:spPr>
          <a:xfrm>
            <a:off x="6305550" y="2952750"/>
            <a:ext cx="2628900" cy="30670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24" name="">
            <a:extLst>
              <a:ext uri="{FF2B5EF4-FFF2-40B4-BE49-F238E27FC236}">
                <ns2:creationId id="{7BD89E9F-33A7-456C-98F2-1082B6637443}"/>
              </a:ext>
            </a:extLst>
          </p:cNvPr>
          <p:cNvPicPr>
            <a:picLocks noChangeAspect="1"/>
          </p:cNvPicPr>
          <p:nvPr/>
        </p:nvPicPr>
        <p:blipFill>
          <a:blip r:embed="R34cebf29a8974f7d"/>
          <a:stretch/>
        </p:blipFill>
        <p:spPr>
          <a:xfrm>
            <a:off x="7086600" y="3257550"/>
            <a:ext cx="1066800" cy="1066800"/>
          </a:xfrm>
          <a:prstGeom prst="rect">
            <a:avLst/>
          </a:prstGeom>
        </p:spPr>
      </p:pic>
      <p:sp>
        <p:nvSpPr>
          <p:cNvPr id="25" name="step1:text-50">
            <a:extLst>
              <a:ext uri="{FF2B5EF4-FFF2-40B4-BE49-F238E27FC236}">
                <ns2:creationId id="{FE60BC36-3AF0-4887-A3D3-F83EF6D6DD4B}"/>
              </a:ext>
            </a:extLst>
          </p:cNvPr>
          <p:cNvSpPr>
            <a:spLocks noGrp="1"/>
          </p:cNvSpPr>
          <p:nvPr/>
        </p:nvSpPr>
        <p:spPr>
          <a:xfrm>
            <a:off x="6534150" y="46482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  <a:hlinkClick r:id="R23f29dd5d30b41a8"/>
              </a:rPr>
              <a:t>智谱 AI</a:t>
            </a:r>
          </a:p>
        </p:txBody>
      </p:sp>
      <p:sp>
        <p:nvSpPr>
          <p:cNvPr id="26" name="step1:text-51">
            <a:extLst>
              <a:ext uri="{FF2B5EF4-FFF2-40B4-BE49-F238E27FC236}">
                <ns2:creationId id="{8AA1D314-5239-4328-B38B-244C980A17D2}"/>
              </a:ext>
            </a:extLst>
          </p:cNvPr>
          <p:cNvSpPr>
            <a:spLocks noGrp="1"/>
          </p:cNvSpPr>
          <p:nvPr/>
        </p:nvSpPr>
        <p:spPr>
          <a:xfrm>
            <a:off x="6467475" y="5086350"/>
            <a:ext cx="2362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（GLM）</a:t>
            </a:r>
          </a:p>
        </p:txBody>
      </p:sp>
      <p:sp>
        <p:nvSpPr>
          <p:cNvPr id="27" name="step1:text-52">
            <a:extLst>
              <a:ext uri="{FF2B5EF4-FFF2-40B4-BE49-F238E27FC236}">
                <ns2:creationId id="{32FEF532-3947-41DA-8477-C83DC54A9B4A}"/>
              </a:ext>
            </a:extLst>
          </p:cNvPr>
          <p:cNvSpPr>
            <a:spLocks noGrp="1"/>
          </p:cNvSpPr>
          <p:nvPr/>
        </p:nvSpPr>
        <p:spPr>
          <a:xfrm>
            <a:off x="6534150" y="556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</a:t>
            </a:r>
          </a:p>
        </p:txBody>
      </p:sp>
      <p:sp>
        <p:nvSpPr>
          <p:cNvPr id="28" name="step1:text-53">
            <a:extLst>
              <a:ext uri="{FF2B5EF4-FFF2-40B4-BE49-F238E27FC236}">
                <ns2:creationId id="{4928EE20-EF7D-4010-A33B-0C3913B921F1}"/>
              </a:ext>
            </a:extLst>
          </p:cNvPr>
          <p:cNvSpPr>
            <a:spLocks noGrp="1"/>
          </p:cNvSpPr>
          <p:nvPr/>
        </p:nvSpPr>
        <p:spPr>
          <a:xfrm>
            <a:off x="6534150" y="578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GLM-4.5</a:t>
            </a:r>
          </a:p>
        </p:txBody>
      </p:sp>
      <p:sp>
        <p:nvSpPr>
          <p:cNvPr id="29" name="step1:panel-54">
            <a:extLst>
              <a:ext uri="{FF2B5EF4-FFF2-40B4-BE49-F238E27FC236}">
                <ns2:creationId id="{5FB919C2-A660-4EFF-ADC6-31F94924A582}"/>
              </a:ext>
            </a:extLst>
          </p:cNvPr>
          <p:cNvSpPr>
            <a:spLocks noGrp="1"/>
          </p:cNvSpPr>
          <p:nvPr/>
        </p:nvSpPr>
        <p:spPr>
          <a:xfrm>
            <a:off x="9115425" y="2952750"/>
            <a:ext cx="2628900" cy="30670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30" name="">
            <a:extLst>
              <a:ext uri="{FF2B5EF4-FFF2-40B4-BE49-F238E27FC236}">
                <ns2:creationId id="{394D9FF5-0F90-4700-993B-BDD4948C1F61}"/>
              </a:ext>
            </a:extLst>
          </p:cNvPr>
          <p:cNvPicPr>
            <a:picLocks noChangeAspect="1"/>
          </p:cNvPicPr>
          <p:nvPr/>
        </p:nvPicPr>
        <p:blipFill>
          <a:blip r:embed="Rc799bda9cdbd48fd"/>
          <a:stretch/>
        </p:blipFill>
        <p:spPr>
          <a:xfrm>
            <a:off x="9324975" y="3388069"/>
            <a:ext cx="2209800" cy="805761"/>
          </a:xfrm>
          <a:prstGeom prst="rect">
            <a:avLst/>
          </a:prstGeom>
        </p:spPr>
      </p:pic>
      <p:sp>
        <p:nvSpPr>
          <p:cNvPr id="31" name="step1:text-55">
            <a:extLst>
              <a:ext uri="{FF2B5EF4-FFF2-40B4-BE49-F238E27FC236}">
                <ns2:creationId id="{751A69D0-6D30-4B73-84C3-61B6F48F502F}"/>
              </a:ext>
            </a:extLst>
          </p:cNvPr>
          <p:cNvSpPr>
            <a:spLocks noGrp="1"/>
          </p:cNvSpPr>
          <p:nvPr/>
        </p:nvSpPr>
        <p:spPr>
          <a:xfrm>
            <a:off x="9344025" y="46482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  <a:hlinkClick r:id="R98a76292e21d47c1"/>
              </a:rPr>
              <a:t>月之暗面</a:t>
            </a:r>
          </a:p>
        </p:txBody>
      </p:sp>
      <p:sp>
        <p:nvSpPr>
          <p:cNvPr id="32" name="step1:text-56">
            <a:extLst>
              <a:ext uri="{FF2B5EF4-FFF2-40B4-BE49-F238E27FC236}">
                <ns2:creationId id="{7F3F3451-98E4-402D-A7C5-35174E2DE4AD}"/>
              </a:ext>
            </a:extLst>
          </p:cNvPr>
          <p:cNvSpPr>
            <a:spLocks noGrp="1"/>
          </p:cNvSpPr>
          <p:nvPr/>
        </p:nvSpPr>
        <p:spPr>
          <a:xfrm>
            <a:off x="9277350" y="5086350"/>
            <a:ext cx="2362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（Kimi）</a:t>
            </a:r>
          </a:p>
        </p:txBody>
      </p:sp>
      <p:sp>
        <p:nvSpPr>
          <p:cNvPr id="33" name="step1:text-57">
            <a:extLst>
              <a:ext uri="{FF2B5EF4-FFF2-40B4-BE49-F238E27FC236}">
                <ns2:creationId id="{CE50BB89-0B95-4C6F-8FC5-8761B80FD38E}"/>
              </a:ext>
            </a:extLst>
          </p:cNvPr>
          <p:cNvSpPr>
            <a:spLocks noGrp="1"/>
          </p:cNvSpPr>
          <p:nvPr/>
        </p:nvSpPr>
        <p:spPr>
          <a:xfrm>
            <a:off x="9344025" y="556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</a:t>
            </a:r>
          </a:p>
        </p:txBody>
      </p:sp>
      <p:sp>
        <p:nvSpPr>
          <p:cNvPr id="34" name="step1:text-58">
            <a:extLst>
              <a:ext uri="{FF2B5EF4-FFF2-40B4-BE49-F238E27FC236}">
                <ns2:creationId id="{4EC50673-C833-4E9E-861A-6B2791000318}"/>
              </a:ext>
            </a:extLst>
          </p:cNvPr>
          <p:cNvSpPr>
            <a:spLocks noGrp="1"/>
          </p:cNvSpPr>
          <p:nvPr/>
        </p:nvSpPr>
        <p:spPr>
          <a:xfrm>
            <a:off x="9344025" y="578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Kimi K2</a:t>
            </a:r>
          </a:p>
        </p:txBody>
      </p:sp>
      <p:sp>
        <p:nvSpPr>
          <p:cNvPr id="35" name="step1:panel-59">
            <a:extLst>
              <a:ext uri="{FF2B5EF4-FFF2-40B4-BE49-F238E27FC236}">
                <ns2:creationId id="{AE984B3C-F98E-4DC2-96EE-E76C47E97453}"/>
              </a:ext>
            </a:extLst>
          </p:cNvPr>
          <p:cNvSpPr>
            <a:spLocks noGrp="1"/>
          </p:cNvSpPr>
          <p:nvPr/>
        </p:nvSpPr>
        <p:spPr>
          <a:xfrm>
            <a:off x="11925300" y="2952750"/>
            <a:ext cx="2628900" cy="30670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36" name="">
            <a:extLst>
              <a:ext uri="{FF2B5EF4-FFF2-40B4-BE49-F238E27FC236}">
                <ns2:creationId id="{698DBD9F-785D-4ABA-8104-8AE8D4DDC692}"/>
              </a:ext>
            </a:extLst>
          </p:cNvPr>
          <p:cNvPicPr>
            <a:picLocks noChangeAspect="1"/>
          </p:cNvPicPr>
          <p:nvPr/>
        </p:nvPicPr>
        <p:blipFill>
          <a:blip r:embed="R5d3a191c85ab4080"/>
          <a:stretch/>
        </p:blipFill>
        <p:spPr>
          <a:xfrm>
            <a:off x="12134850" y="3470520"/>
            <a:ext cx="2209800" cy="640861"/>
          </a:xfrm>
          <a:prstGeom prst="rect">
            <a:avLst/>
          </a:prstGeom>
        </p:spPr>
      </p:pic>
      <p:sp>
        <p:nvSpPr>
          <p:cNvPr id="37" name="step1:text-60">
            <a:extLst>
              <a:ext uri="{FF2B5EF4-FFF2-40B4-BE49-F238E27FC236}">
                <ns2:creationId id="{C4F4597D-378A-4220-B17F-413B9C9A64C8}"/>
              </a:ext>
            </a:extLst>
          </p:cNvPr>
          <p:cNvSpPr>
            <a:spLocks noGrp="1"/>
          </p:cNvSpPr>
          <p:nvPr/>
        </p:nvSpPr>
        <p:spPr>
          <a:xfrm>
            <a:off x="12153900" y="46482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  <a:hlinkClick r:id="R457c6c3521a9432a"/>
              </a:rPr>
              <a:t>腾讯</a:t>
            </a:r>
          </a:p>
        </p:txBody>
      </p:sp>
      <p:sp>
        <p:nvSpPr>
          <p:cNvPr id="38" name="step1:text-61">
            <a:extLst>
              <a:ext uri="{FF2B5EF4-FFF2-40B4-BE49-F238E27FC236}">
                <ns2:creationId id="{4B0F96F3-AE4F-4CB0-A86C-104AC525B0BB}"/>
              </a:ext>
            </a:extLst>
          </p:cNvPr>
          <p:cNvSpPr>
            <a:spLocks noGrp="1"/>
          </p:cNvSpPr>
          <p:nvPr/>
        </p:nvSpPr>
        <p:spPr>
          <a:xfrm>
            <a:off x="12087225" y="5086350"/>
            <a:ext cx="2362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（混元 / Hunyuan）</a:t>
            </a:r>
          </a:p>
        </p:txBody>
      </p:sp>
      <p:sp>
        <p:nvSpPr>
          <p:cNvPr id="39" name="step1:text-62">
            <a:extLst>
              <a:ext uri="{FF2B5EF4-FFF2-40B4-BE49-F238E27FC236}">
                <ns2:creationId id="{C352E226-B59A-4769-9593-9625EE23A38C}"/>
              </a:ext>
            </a:extLst>
          </p:cNvPr>
          <p:cNvSpPr>
            <a:spLocks noGrp="1"/>
          </p:cNvSpPr>
          <p:nvPr/>
        </p:nvSpPr>
        <p:spPr>
          <a:xfrm>
            <a:off x="12153900" y="556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</a:t>
            </a:r>
          </a:p>
        </p:txBody>
      </p:sp>
      <p:sp>
        <p:nvSpPr>
          <p:cNvPr id="40" name="step1:text-63">
            <a:extLst>
              <a:ext uri="{FF2B5EF4-FFF2-40B4-BE49-F238E27FC236}">
                <ns2:creationId id="{EC6A5ADF-083B-4B6B-8DC0-2EC4A8626EA5}"/>
              </a:ext>
            </a:extLst>
          </p:cNvPr>
          <p:cNvSpPr>
            <a:spLocks noGrp="1"/>
          </p:cNvSpPr>
          <p:nvPr/>
        </p:nvSpPr>
        <p:spPr>
          <a:xfrm>
            <a:off x="12153900" y="578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Hunyuan-A13B</a:t>
            </a:r>
          </a:p>
        </p:txBody>
      </p:sp>
      <p:sp>
        <p:nvSpPr>
          <p:cNvPr id="41" name="step2:text-64">
            <a:extLst>
              <a:ext uri="{FF2B5EF4-FFF2-40B4-BE49-F238E27FC236}">
                <ns2:creationId id="{AC80E343-5C05-4949-AB8F-ACB435B9C089}"/>
              </a:ext>
            </a:extLst>
          </p:cNvPr>
          <p:cNvSpPr>
            <a:spLocks noGrp="1"/>
          </p:cNvSpPr>
          <p:nvPr/>
        </p:nvSpPr>
        <p:spPr>
          <a:xfrm>
            <a:off x="2476500" y="63817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模型能力</a:t>
            </a:r>
          </a:p>
        </p:txBody>
      </p:sp>
      <p:cxnSp>
        <p:nvCxnSpPr>
          <p:cNvPr id="42" name="step2:arrow-65">
            <a:extLst>
              <a:ext uri="{FF2B5EF4-FFF2-40B4-BE49-F238E27FC236}">
                <ns2:creationId id="{2A15BC3B-4C08-434C-8736-2DFF0CBC0391}"/>
              </a:ext>
            </a:extLst>
          </p:cNvPr>
          <p:cNvCxnSpPr/>
          <p:nvPr/>
        </p:nvCxnSpPr>
        <p:spPr>
          <a:xfrm>
            <a:off x="4572000" y="6619875"/>
            <a:ext cx="790575" cy="0"/>
          </a:xfrm>
          <a:prstGeom prst="straightConnector1">
            <a:avLst/>
          </a:prstGeom>
          <a:ln w="20955">
            <a:solidFill>
              <a:srgbClr val="277C65"/>
            </a:solidFill>
            <a:tailEnd type="triangle" w="med" len="med"/>
          </a:ln>
        </p:spPr>
      </p:cxnSp>
      <p:sp>
        <p:nvSpPr>
          <p:cNvPr id="43" name="step2:panel-66">
            <a:extLst>
              <a:ext uri="{FF2B5EF4-FFF2-40B4-BE49-F238E27FC236}">
                <ns2:creationId id="{65D38A33-2386-4061-A33D-E5EC031606C5}"/>
              </a:ext>
            </a:extLst>
          </p:cNvPr>
          <p:cNvSpPr>
            <a:spLocks noGrp="1"/>
          </p:cNvSpPr>
          <p:nvPr/>
        </p:nvSpPr>
        <p:spPr>
          <a:xfrm>
            <a:off x="5524500" y="6334125"/>
            <a:ext cx="4191000" cy="590550"/>
          </a:xfrm>
          <a:prstGeom prst="rect">
            <a:avLst/>
          </a:prstGeom>
          <a:solidFill>
            <a:srgbClr val="E5EDDE"/>
          </a:solidFill>
          <a:ln w="9525">
            <a:solidFill>
              <a:srgbClr val="D6DFD3"/>
            </a:solidFill>
            <a:prstDash val="solid"/>
          </a:ln>
        </p:spPr>
      </p:sp>
      <p:sp>
        <p:nvSpPr>
          <p:cNvPr id="44" name="step2:text-67">
            <a:extLst>
              <a:ext uri="{FF2B5EF4-FFF2-40B4-BE49-F238E27FC236}">
                <ns2:creationId id="{A0795BFB-601C-4A2A-860D-669769827A67}"/>
              </a:ext>
            </a:extLst>
          </p:cNvPr>
          <p:cNvSpPr>
            <a:spLocks noGrp="1"/>
          </p:cNvSpPr>
          <p:nvPr/>
        </p:nvSpPr>
        <p:spPr>
          <a:xfrm>
            <a:off x="5524500" y="63817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开发者的应用与再创造</a:t>
            </a:r>
          </a:p>
        </p:txBody>
      </p:sp>
      <p:cxnSp>
        <p:nvCxnSpPr>
          <p:cNvPr id="45" name="step2:arrow-68">
            <a:extLst>
              <a:ext uri="{FF2B5EF4-FFF2-40B4-BE49-F238E27FC236}">
                <ns2:creationId id="{39191FCD-AB86-44D4-A413-61695E321DCD}"/>
              </a:ext>
            </a:extLst>
          </p:cNvPr>
          <p:cNvCxnSpPr/>
          <p:nvPr/>
        </p:nvCxnSpPr>
        <p:spPr>
          <a:xfrm>
            <a:off x="9906000" y="6619875"/>
            <a:ext cx="809625" cy="0"/>
          </a:xfrm>
          <a:prstGeom prst="straightConnector1">
            <a:avLst/>
          </a:prstGeom>
          <a:ln w="20955">
            <a:solidFill>
              <a:srgbClr val="277C65"/>
            </a:solidFill>
            <a:tailEnd type="triangle" w="med" len="med"/>
          </a:ln>
        </p:spPr>
      </p:cxnSp>
      <p:sp>
        <p:nvSpPr>
          <p:cNvPr id="46" name="step2:text-69">
            <a:extLst>
              <a:ext uri="{FF2B5EF4-FFF2-40B4-BE49-F238E27FC236}">
                <ns2:creationId id="{4EB73313-34CA-40B1-9F63-EE7CABD6CF69}"/>
              </a:ext>
            </a:extLst>
          </p:cNvPr>
          <p:cNvSpPr>
            <a:spLocks noGrp="1"/>
          </p:cNvSpPr>
          <p:nvPr/>
        </p:nvSpPr>
        <p:spPr>
          <a:xfrm>
            <a:off x="10858500" y="63817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真实场景</a:t>
            </a:r>
          </a:p>
        </p:txBody>
      </p:sp>
      <p:sp>
        <p:nvSpPr>
          <p:cNvPr id="47" name="text-70">
            <a:extLst>
              <a:ext uri="{FF2B5EF4-FFF2-40B4-BE49-F238E27FC236}">
                <ns2:creationId id="{6C989FE1-73FF-4630-AADD-115B69358EFF}"/>
              </a:ext>
            </a:extLst>
          </p:cNvPr>
          <p:cNvSpPr>
            <a:spLocks noGrp="1"/>
          </p:cNvSpPr>
          <p:nvPr/>
        </p:nvSpPr>
        <p:spPr>
          <a:xfrm>
            <a:off x="704850" y="7191375"/>
            <a:ext cx="13906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让更多人能够学习、构建和改进。</a:t>
            </a:r>
          </a:p>
        </p:txBody>
      </p:sp>
      <p:sp>
        <p:nvSpPr>
          <p:cNvPr id="48" name="text-71">
            <a:extLst>
              <a:ext uri="{FF2B5EF4-FFF2-40B4-BE49-F238E27FC236}">
                <ns2:creationId id="{06226ACF-FD30-4739-9DD2-B8E7455FBACA}"/>
              </a:ext>
            </a:extLst>
          </p:cNvPr>
          <p:cNvSpPr>
            <a:spLocks noGrp="1"/>
          </p:cNvSpPr>
          <p:nvPr/>
        </p:nvSpPr>
        <p:spPr>
          <a:xfrm>
            <a:off x="704850" y="7715250"/>
            <a:ext cx="1381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代表版本示例，展示顺序不代表排名；各版本许可分别适用，不表示商业背书。</a:t>
            </a:r>
          </a:p>
        </p:txBody>
      </p:sp>
    </p:spTree>
    <p:extLst>
      <p:ext uri="{BB962C8B-B14F-4D97-AF65-F5344CB8AC3E}">
        <ns4:creationId val="1636334469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5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5" name="panel-72">
            <a:extLst>
              <a:ext uri="{FF2B5EF4-FFF2-40B4-BE49-F238E27FC236}">
                <ns2:creationId id="{AC217E7C-294F-47D6-B297-55C7C1B2B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B5CD0F46-AC69-4232-9C26-E628E027288D}"/>
              </a:ext>
            </a:extLst>
          </p:cNvPr>
          <p:cNvPicPr>
            <a:picLocks noChangeAspect="1"/>
          </p:cNvPicPr>
          <p:nvPr/>
        </p:nvPicPr>
        <p:blipFill>
          <a:blip r:embed="Rb76ba5256bde4ccb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73">
            <a:extLst>
              <a:ext uri="{FF2B5EF4-FFF2-40B4-BE49-F238E27FC236}">
                <ns2:creationId id="{24DD7564-524E-4B2C-B442-A037ADBA6931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74">
            <a:extLst>
              <a:ext uri="{FF2B5EF4-FFF2-40B4-BE49-F238E27FC236}">
                <ns2:creationId id="{DF2B49CA-3E53-4DC6-971C-33FACF36C272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04 / 10</a:t>
            </a:r>
          </a:p>
        </p:txBody>
      </p:sp>
      <p:sp>
        <p:nvSpPr>
          <p:cNvPr id="5" name="text-75">
            <a:extLst>
              <a:ext uri="{FF2B5EF4-FFF2-40B4-BE49-F238E27FC236}">
                <ns2:creationId id="{3AE2F691-4558-4FBD-81E5-8D95F92FEC98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两股力量</a:t>
            </a:r>
          </a:p>
        </p:txBody>
      </p:sp>
      <p:sp>
        <p:nvSpPr>
          <p:cNvPr id="6" name="text-76">
            <a:extLst>
              <a:ext uri="{FF2B5EF4-FFF2-40B4-BE49-F238E27FC236}">
                <ns2:creationId id="{2A12B53D-42B0-4207-AAF3-FCCA2D7F1C1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两股力量，</a:t>
            </a:r>
            <a:r>
              <a:rPr sz="360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相互促进</a:t>
            </a:r>
          </a:p>
        </p:txBody>
      </p:sp>
      <p:sp>
        <p:nvSpPr>
          <p:cNvPr id="7" name="text-77">
            <a:extLst>
              <a:ext uri="{FF2B5EF4-FFF2-40B4-BE49-F238E27FC236}">
                <ns2:creationId id="{BE72F92F-5B13-4A82-A783-F51AAB554ABB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技术降低进入门槛，人的实践让技术走向有意义的应用。</a:t>
            </a:r>
          </a:p>
        </p:txBody>
      </p:sp>
      <p:sp>
        <p:nvSpPr>
          <p:cNvPr id="8" name="line-78">
            <a:extLst>
              <a:ext uri="{FF2B5EF4-FFF2-40B4-BE49-F238E27FC236}">
                <ns2:creationId id="{BF6580A9-1DF3-45A1-A39F-AF510FE408B3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9" name="text-79">
            <a:extLst>
              <a:ext uri="{FF2B5EF4-FFF2-40B4-BE49-F238E27FC236}">
                <ns2:creationId id="{26427C46-3E50-4E83-A005-EE0F0A7D5DCC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80">
            <a:extLst>
              <a:ext uri="{FF2B5EF4-FFF2-40B4-BE49-F238E27FC236}">
                <ns2:creationId id="{6EEF8C27-4871-4494-AC50-84B8FE998A1F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panel-81">
            <a:extLst>
              <a:ext uri="{FF2B5EF4-FFF2-40B4-BE49-F238E27FC236}">
                <ns2:creationId id="{49CE3A04-1EA1-44D6-B833-31C1B4EB5172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048375" cy="3381375"/>
          </a:xfrm>
          <a:prstGeom prst="roundRect">
            <a:avLst>
              <a:gd name="adj" fmla="val 1690"/>
            </a:avLst>
          </a:prstGeom>
          <a:solidFill>
            <a:srgbClr val="E7EFDD"/>
          </a:solidFill>
          <a:ln w="9525">
            <a:solidFill>
              <a:srgbClr val="D6DFD3"/>
            </a:solidFill>
            <a:prstDash val="solid"/>
          </a:ln>
        </p:spPr>
      </p:sp>
      <p:pic>
        <p:nvPicPr>
          <p:cNvPr id="12" name="">
            <a:extLst>
              <a:ext uri="{FF2B5EF4-FFF2-40B4-BE49-F238E27FC236}">
                <ns2:creationId id="{D0713177-2AC9-4A96-AC34-5C3AF2E5C509}"/>
              </a:ext>
            </a:extLst>
          </p:cNvPr>
          <p:cNvPicPr>
            <a:picLocks noChangeAspect="1"/>
          </p:cNvPicPr>
          <p:nvPr/>
        </p:nvPicPr>
        <p:blipFill>
          <a:blip r:embed="R826c249af3a94fd1"/>
          <a:stretch/>
        </p:blipFill>
        <p:spPr>
          <a:xfrm>
            <a:off x="5848350" y="3248025"/>
            <a:ext cx="523875" cy="523875"/>
          </a:xfrm>
          <a:prstGeom prst="rect">
            <a:avLst/>
          </a:prstGeom>
        </p:spPr>
      </p:pic>
      <p:sp>
        <p:nvSpPr>
          <p:cNvPr id="13" name="step1:text-82">
            <a:extLst>
              <a:ext uri="{FF2B5EF4-FFF2-40B4-BE49-F238E27FC236}">
                <ns2:creationId id="{6E0D4E5B-F525-4141-96E2-E79E595B7F23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OPEN SOURCE</a:t>
            </a:r>
          </a:p>
        </p:txBody>
      </p:sp>
      <p:sp>
        <p:nvSpPr>
          <p:cNvPr id="14" name="step1:text-83">
            <a:extLst>
              <a:ext uri="{FF2B5EF4-FFF2-40B4-BE49-F238E27FC236}">
                <ns2:creationId id="{415E254F-3FDE-4C54-9D46-8F0CA11C9157}"/>
              </a:ext>
            </a:extLst>
          </p:cNvPr>
          <p:cNvSpPr>
            <a:spLocks noGrp="1"/>
          </p:cNvSpPr>
          <p:nvPr/>
        </p:nvSpPr>
        <p:spPr>
          <a:xfrm>
            <a:off x="990600" y="37147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开源之力</a:t>
            </a:r>
          </a:p>
        </p:txBody>
      </p:sp>
      <p:sp>
        <p:nvSpPr>
          <p:cNvPr id="15" name="step1:text-84">
            <a:extLst>
              <a:ext uri="{FF2B5EF4-FFF2-40B4-BE49-F238E27FC236}">
                <ns2:creationId id="{8D2C7860-0A12-46C7-B919-8197853CD7FD}"/>
              </a:ext>
            </a:extLst>
          </p:cNvPr>
          <p:cNvSpPr>
            <a:spLocks noGrp="1"/>
          </p:cNvSpPr>
          <p:nvPr/>
        </p:nvSpPr>
        <p:spPr>
          <a:xfrm>
            <a:off x="990600" y="43529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降低门槛</a:t>
            </a:r>
          </a:p>
        </p:txBody>
      </p:sp>
      <p:sp>
        <p:nvSpPr>
          <p:cNvPr id="16" name="step1:text-85">
            <a:extLst>
              <a:ext uri="{FF2B5EF4-FFF2-40B4-BE49-F238E27FC236}">
                <ns2:creationId id="{38D72BCE-ED1F-4A43-9A67-18841608E6C2}"/>
              </a:ext>
            </a:extLst>
          </p:cNvPr>
          <p:cNvSpPr>
            <a:spLocks noGrp="1"/>
          </p:cNvSpPr>
          <p:nvPr/>
        </p:nvSpPr>
        <p:spPr>
          <a:xfrm>
            <a:off x="990600" y="5000625"/>
            <a:ext cx="533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开放技术、知识与工具，</a:t>
            </a:r>
          </a:p>
          <a:p>
            <a: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让学习、改进与复用成为可能。</a:t>
            </a:r>
          </a:p>
        </p:txBody>
      </p:sp>
      <p:sp>
        <p:nvSpPr>
          <p:cNvPr id="17" name="step1:text-86">
            <a:extLst>
              <a:ext uri="{FF2B5EF4-FFF2-40B4-BE49-F238E27FC236}">
                <ns2:creationId id="{010DAF1C-9FD3-4B5B-9A36-E77A2C6CEADE}"/>
              </a:ext>
            </a:extLst>
          </p:cNvPr>
          <p:cNvSpPr>
            <a:spLocks noGrp="1"/>
          </p:cNvSpPr>
          <p:nvPr/>
        </p:nvSpPr>
        <p:spPr>
          <a:xfrm>
            <a:off x="990600" y="5886450"/>
            <a:ext cx="5334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基础设施    模型    智能体与应用</a:t>
            </a:r>
          </a:p>
        </p:txBody>
      </p:sp>
      <p:sp>
        <p:nvSpPr>
          <p:cNvPr id="18" name="step2:panel-87">
            <a:extLst>
              <a:ext uri="{FF2B5EF4-FFF2-40B4-BE49-F238E27FC236}">
                <ns2:creationId id="{3D19F4A7-BC77-49F5-B924-8D920FFD1EFF}"/>
              </a:ext>
            </a:extLst>
          </p:cNvPr>
          <p:cNvSpPr>
            <a:spLocks noGrp="1"/>
          </p:cNvSpPr>
          <p:nvPr/>
        </p:nvSpPr>
        <p:spPr>
          <a:xfrm>
            <a:off x="8505825" y="2952750"/>
            <a:ext cx="6048375" cy="3381375"/>
          </a:xfrm>
          <a:prstGeom prst="roundRect">
            <a:avLst>
              <a:gd name="adj" fmla="val 1690"/>
            </a:avLst>
          </a:prstGeom>
          <a:solidFill>
            <a:srgbClr val="E9ECF8"/>
          </a:solidFill>
          <a:ln w="9525">
            <a:solidFill>
              <a:srgbClr val="D8DEED"/>
            </a:solidFill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59FCC2A5-657A-4C00-AB81-18E3D742328F}"/>
              </a:ext>
            </a:extLst>
          </p:cNvPr>
          <p:cNvPicPr>
            <a:picLocks noChangeAspect="1"/>
          </p:cNvPicPr>
          <p:nvPr/>
        </p:nvPicPr>
        <p:blipFill>
          <a:blip r:embed="R4536c96334e34953"/>
          <a:stretch/>
        </p:blipFill>
        <p:spPr>
          <a:xfrm>
            <a:off x="13620750" y="3248025"/>
            <a:ext cx="523875" cy="523875"/>
          </a:xfrm>
          <a:prstGeom prst="rect">
            <a:avLst/>
          </a:prstGeom>
        </p:spPr>
      </p:pic>
      <p:sp>
        <p:nvSpPr>
          <p:cNvPr id="20" name="step2:text-88">
            <a:extLst>
              <a:ext uri="{FF2B5EF4-FFF2-40B4-BE49-F238E27FC236}">
                <ns2:creationId id="{74A296C6-C6C5-46E0-95F8-9DD505701F1C}"/>
              </a:ext>
            </a:extLst>
          </p:cNvPr>
          <p:cNvSpPr>
            <a:spLocks noGrp="1"/>
          </p:cNvSpPr>
          <p:nvPr/>
        </p:nvSpPr>
        <p:spPr>
          <a:xfrm>
            <a:off x="8810625" y="32194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DEVELOPERS</a:t>
            </a:r>
          </a:p>
        </p:txBody>
      </p:sp>
      <p:sp>
        <p:nvSpPr>
          <p:cNvPr id="21" name="step2:text-89">
            <a:extLst>
              <a:ext uri="{FF2B5EF4-FFF2-40B4-BE49-F238E27FC236}">
                <ns2:creationId id="{99699796-DF12-4A29-948E-1B0F04C0C669}"/>
              </a:ext>
            </a:extLst>
          </p:cNvPr>
          <p:cNvSpPr>
            <a:spLocks noGrp="1"/>
          </p:cNvSpPr>
          <p:nvPr/>
        </p:nvSpPr>
        <p:spPr>
          <a:xfrm>
            <a:off x="8810625" y="37147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开发者之力</a:t>
            </a:r>
          </a:p>
        </p:txBody>
      </p:sp>
      <p:sp>
        <p:nvSpPr>
          <p:cNvPr id="22" name="step2:text-90">
            <a:extLst>
              <a:ext uri="{FF2B5EF4-FFF2-40B4-BE49-F238E27FC236}">
                <ns2:creationId id="{686EA579-96C2-494D-A502-55CA083B5D9F}"/>
              </a:ext>
            </a:extLst>
          </p:cNvPr>
          <p:cNvSpPr>
            <a:spLocks noGrp="1"/>
          </p:cNvSpPr>
          <p:nvPr/>
        </p:nvSpPr>
        <p:spPr>
          <a:xfrm>
            <a:off x="8810625" y="43529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rPr>
              <a:t>放大创造</a:t>
            </a:r>
          </a:p>
        </p:txBody>
      </p:sp>
      <p:sp>
        <p:nvSpPr>
          <p:cNvPr id="23" name="step2:text-91">
            <a:extLst>
              <a:ext uri="{FF2B5EF4-FFF2-40B4-BE49-F238E27FC236}">
                <ns2:creationId id="{B8AFA3E1-B5FD-4877-A8AA-4E32611094C3}"/>
              </a:ext>
            </a:extLst>
          </p:cNvPr>
          <p:cNvSpPr>
            <a:spLocks noGrp="1"/>
          </p:cNvSpPr>
          <p:nvPr/>
        </p:nvSpPr>
        <p:spPr>
          <a:xfrm>
            <a:off x="8810625" y="5000625"/>
            <a:ext cx="533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从真实问题出发，</a:t>
            </a:r>
          </a:p>
          <a:p>
            <a:pPr algn="l">
              <a:def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在学习、作品、协作与反馈中成长。</a:t>
            </a:r>
          </a:p>
        </p:txBody>
      </p:sp>
      <p:sp>
        <p:nvSpPr>
          <p:cNvPr id="24" name="step2:text-92">
            <a:extLst>
              <a:ext uri="{FF2B5EF4-FFF2-40B4-BE49-F238E27FC236}">
                <ns2:creationId id="{42AA11AC-836E-459A-A49F-95E61445495A}"/>
              </a:ext>
            </a:extLst>
          </p:cNvPr>
          <p:cNvSpPr>
            <a:spLocks noGrp="1"/>
          </p:cNvSpPr>
          <p:nvPr/>
        </p:nvSpPr>
        <p:spPr>
          <a:xfrm>
            <a:off x="8810625" y="5886450"/>
            <a:ext cx="5334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7DC6"/>
                </a:solidFill>
                <a:latin typeface="Source Han Sans SC"/>
                <a:ea typeface="Source Han Sans SC"/>
                <a:cs typeface="Source Han Sans SC"/>
              </a:rPr>
              <a:t>学习者    构建者    工程师</a:t>
            </a:r>
          </a:p>
        </p:txBody>
      </p:sp>
      <p:sp>
        <p:nvSpPr>
          <p:cNvPr id="25" name="step3:text-93">
            <a:extLst>
              <a:ext uri="{FF2B5EF4-FFF2-40B4-BE49-F238E27FC236}">
                <ns2:creationId id="{93169EAC-E141-496B-BE25-75AD14B6A750}"/>
              </a:ext>
            </a:extLst>
          </p:cNvPr>
          <p:cNvSpPr>
            <a:spLocks noGrp="1"/>
          </p:cNvSpPr>
          <p:nvPr/>
        </p:nvSpPr>
        <p:spPr>
          <a:xfrm>
            <a:off x="6924675" y="394335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60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60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60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×</a:t>
            </a:r>
          </a:p>
        </p:txBody>
      </p:sp>
      <p:sp>
        <p:nvSpPr>
          <p:cNvPr id="26" name="step3:text-94">
            <a:extLst>
              <a:ext uri="{FF2B5EF4-FFF2-40B4-BE49-F238E27FC236}">
                <ns2:creationId id="{C3518F09-05C7-46E8-B27C-E92061A444BD}"/>
              </a:ext>
            </a:extLst>
          </p:cNvPr>
          <p:cNvSpPr>
            <a:spLocks noGrp="1"/>
          </p:cNvSpPr>
          <p:nvPr/>
        </p:nvSpPr>
        <p:spPr>
          <a:xfrm>
            <a:off x="6924675" y="489585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共同创造</a:t>
            </a:r>
          </a:p>
        </p:txBody>
      </p:sp>
      <p:sp>
        <p:nvSpPr>
          <p:cNvPr id="27" name="step3:text-95">
            <a:extLst>
              <a:ext uri="{FF2B5EF4-FFF2-40B4-BE49-F238E27FC236}">
                <ns2:creationId id="{F1FBEAD8-F62B-4D02-B387-B9FBEC55EE24}"/>
              </a:ext>
            </a:extLst>
          </p:cNvPr>
          <p:cNvSpPr>
            <a:spLocks noGrp="1"/>
          </p:cNvSpPr>
          <p:nvPr/>
        </p:nvSpPr>
        <p:spPr>
          <a:xfrm>
            <a:off x="1809750" y="68008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6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AI 普惠</a:t>
            </a:r>
          </a:p>
        </p:txBody>
      </p:sp>
      <p:sp>
        <p:nvSpPr>
          <p:cNvPr id="28" name="step3:text-96">
            <a:extLst>
              <a:ext uri="{FF2B5EF4-FFF2-40B4-BE49-F238E27FC236}">
                <ns2:creationId id="{60C63BB1-9AED-48B1-9FF3-65D1C77D22D1}"/>
              </a:ext>
            </a:extLst>
          </p:cNvPr>
          <p:cNvSpPr>
            <a:spLocks noGrp="1"/>
          </p:cNvSpPr>
          <p:nvPr/>
        </p:nvSpPr>
        <p:spPr>
          <a:xfrm>
            <a:off x="4143375" y="6800850"/>
            <a:ext cx="66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625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=</a:t>
            </a:r>
          </a:p>
        </p:txBody>
      </p:sp>
      <p:sp>
        <p:nvSpPr>
          <p:cNvPr id="29" name="step3:text-97">
            <a:extLst>
              <a:ext uri="{FF2B5EF4-FFF2-40B4-BE49-F238E27FC236}">
                <ns2:creationId id="{4BB8F5A9-F28F-471A-AECC-9AB1801942B4}"/>
              </a:ext>
            </a:extLst>
          </p:cNvPr>
          <p:cNvSpPr>
            <a:spLocks noGrp="1"/>
          </p:cNvSpPr>
          <p:nvPr/>
        </p:nvSpPr>
        <p:spPr>
          <a:xfrm>
            <a:off x="4953000" y="6800850"/>
            <a:ext cx="333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技术的普惠性</a:t>
            </a:r>
          </a:p>
        </p:txBody>
      </p:sp>
      <p:sp>
        <p:nvSpPr>
          <p:cNvPr id="30" name="step3:text-98">
            <a:extLst>
              <a:ext uri="{FF2B5EF4-FFF2-40B4-BE49-F238E27FC236}">
                <ns2:creationId id="{C22EB979-BFE1-4421-8D4E-A53ECC179A46}"/>
              </a:ext>
            </a:extLst>
          </p:cNvPr>
          <p:cNvSpPr>
            <a:spLocks noGrp="1"/>
          </p:cNvSpPr>
          <p:nvPr/>
        </p:nvSpPr>
        <p:spPr>
          <a:xfrm>
            <a:off x="8477250" y="6800850"/>
            <a:ext cx="66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6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×</a:t>
            </a:r>
          </a:p>
        </p:txBody>
      </p:sp>
      <p:sp>
        <p:nvSpPr>
          <p:cNvPr id="31" name="step3:text-99">
            <a:extLst>
              <a:ext uri="{FF2B5EF4-FFF2-40B4-BE49-F238E27FC236}">
                <ns2:creationId id="{D75F576E-8D82-443F-A570-8076B154C677}"/>
              </a:ext>
            </a:extLst>
          </p:cNvPr>
          <p:cNvSpPr>
            <a:spLocks noGrp="1"/>
          </p:cNvSpPr>
          <p:nvPr/>
        </p:nvSpPr>
        <p:spPr>
          <a:xfrm>
            <a:off x="9429750" y="6800850"/>
            <a:ext cx="3810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开发者的创造力</a:t>
            </a:r>
          </a:p>
        </p:txBody>
      </p:sp>
      <p:sp>
        <p:nvSpPr>
          <p:cNvPr id="32" name="step3:text-100">
            <a:extLst>
              <a:ext uri="{FF2B5EF4-FFF2-40B4-BE49-F238E27FC236}">
                <ns2:creationId id="{77826E3F-8C4F-482A-87CD-AB66C884595D}"/>
              </a:ext>
            </a:extLst>
          </p:cNvPr>
          <p:cNvSpPr>
            <a:spLocks noGrp="1"/>
          </p:cNvSpPr>
          <p:nvPr/>
        </p:nvSpPr>
        <p:spPr>
          <a:xfrm>
            <a:off x="4953000" y="738187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用得起</a:t>
            </a:r>
          </a:p>
        </p:txBody>
      </p:sp>
      <p:sp>
        <p:nvSpPr>
          <p:cNvPr id="33" name="step3:text-101">
            <a:extLst>
              <a:ext uri="{FF2B5EF4-FFF2-40B4-BE49-F238E27FC236}">
                <ns2:creationId id="{A1E9BE6C-D460-46C7-B614-BFD227D0F4DA}"/>
              </a:ext>
            </a:extLst>
          </p:cNvPr>
          <p:cNvSpPr>
            <a:spLocks noGrp="1"/>
          </p:cNvSpPr>
          <p:nvPr/>
        </p:nvSpPr>
        <p:spPr>
          <a:xfrm>
            <a:off x="9429750" y="738187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用得好</a:t>
            </a:r>
          </a:p>
        </p:txBody>
      </p:sp>
      <p:sp>
        <p:nvSpPr>
          <p:cNvPr id="34" name="text-102">
            <a:extLst>
              <a:ext uri="{FF2B5EF4-FFF2-40B4-BE49-F238E27FC236}">
                <ns2:creationId id="{594F87EC-033D-4CAC-AA3D-5B9B17FC2DE5}"/>
              </a:ext>
            </a:extLst>
          </p:cNvPr>
          <p:cNvSpPr>
            <a:spLocks noGrp="1"/>
          </p:cNvSpPr>
          <p:nvPr/>
        </p:nvSpPr>
        <p:spPr>
          <a:xfrm>
            <a:off x="714375" y="7734300"/>
            <a:ext cx="1381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乘法表达相互促进的理念，成效由实践检验。</a:t>
            </a:r>
          </a:p>
        </p:txBody>
      </p:sp>
    </p:spTree>
    <p:extLst>
      <p:ext uri="{BB962C8B-B14F-4D97-AF65-F5344CB8AC3E}">
        <ns4:creationId val="1206984569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5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6" name="panel-103">
            <a:extLst>
              <a:ext uri="{FF2B5EF4-FFF2-40B4-BE49-F238E27FC236}">
                <ns2:creationId id="{4A1575D2-F4D9-420A-89B9-BA594D803D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1B09BE8D-910D-42AD-B470-C172B18EA993}"/>
              </a:ext>
            </a:extLst>
          </p:cNvPr>
          <p:cNvPicPr>
            <a:picLocks noChangeAspect="1"/>
          </p:cNvPicPr>
          <p:nvPr/>
        </p:nvPicPr>
        <p:blipFill>
          <a:blip r:embed="Rcd6fbcbf7ddf4366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104">
            <a:extLst>
              <a:ext uri="{FF2B5EF4-FFF2-40B4-BE49-F238E27FC236}">
                <ns2:creationId id="{2B51EB77-12C2-48EC-A420-A1C833627C2E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105">
            <a:extLst>
              <a:ext uri="{FF2B5EF4-FFF2-40B4-BE49-F238E27FC236}">
                <ns2:creationId id="{7A8851CB-1B6F-4AD0-B6CC-D3230A372F93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05 / 10</a:t>
            </a:r>
          </a:p>
        </p:txBody>
      </p:sp>
      <p:sp>
        <p:nvSpPr>
          <p:cNvPr id="5" name="text-106">
            <a:extLst>
              <a:ext uri="{FF2B5EF4-FFF2-40B4-BE49-F238E27FC236}">
                <ns2:creationId id="{9147BBA9-7911-4239-9A73-C7A80F49450E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公共品路径</a:t>
            </a:r>
          </a:p>
        </p:txBody>
      </p:sp>
      <p:sp>
        <p:nvSpPr>
          <p:cNvPr id="6" name="text-107">
            <a:extLst>
              <a:ext uri="{FF2B5EF4-FFF2-40B4-BE49-F238E27FC236}">
                <ns2:creationId id="{B49B17AE-F566-45DF-AB10-E01A43B7E50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共享之后，</a:t>
            </a:r>
            <a:r>
              <a:rPr sz="360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还要走向真正有用</a:t>
            </a:r>
          </a:p>
        </p:txBody>
      </p:sp>
      <p:sp>
        <p:nvSpPr>
          <p:cNvPr id="7" name="text-108">
            <a:extLst>
              <a:ext uri="{FF2B5EF4-FFF2-40B4-BE49-F238E27FC236}">
                <ns2:creationId id="{BE17F1FA-D841-4177-8AC6-E11ABADD61CC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数字公共品，连接开发者创造与实际受益。</a:t>
            </a:r>
          </a:p>
        </p:txBody>
      </p:sp>
      <p:sp>
        <p:nvSpPr>
          <p:cNvPr id="8" name="line-109">
            <a:extLst>
              <a:ext uri="{FF2B5EF4-FFF2-40B4-BE49-F238E27FC236}">
                <ns2:creationId id="{B41666EF-3F95-4FF8-9734-2F7D9AF1333D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9" name="text-110">
            <a:extLst>
              <a:ext uri="{FF2B5EF4-FFF2-40B4-BE49-F238E27FC236}">
                <ns2:creationId id="{7DD9423C-C74E-456F-A619-F3A0778A324C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111">
            <a:extLst>
              <a:ext uri="{FF2B5EF4-FFF2-40B4-BE49-F238E27FC236}">
                <ns2:creationId id="{40C633F9-E63E-4ECF-8261-B6F5E485AD4C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panel-112">
            <a:extLst>
              <a:ext uri="{FF2B5EF4-FFF2-40B4-BE49-F238E27FC236}">
                <ns2:creationId id="{8A219EF2-1C57-4EEB-A463-8F6B89D84C16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2981325" cy="207645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sp>
        <p:nvSpPr>
          <p:cNvPr id="12" name="step1:text-113">
            <a:extLst>
              <a:ext uri="{FF2B5EF4-FFF2-40B4-BE49-F238E27FC236}">
                <ns2:creationId id="{A51F18D0-8B98-4FDD-BBCC-6D11610F3871}"/>
              </a:ext>
            </a:extLst>
          </p:cNvPr>
          <p:cNvSpPr>
            <a:spLocks noGrp="1"/>
          </p:cNvSpPr>
          <p:nvPr/>
        </p:nvSpPr>
        <p:spPr>
          <a:xfrm>
            <a:off x="904875" y="3333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01 / 能力</a:t>
            </a:r>
          </a:p>
        </p:txBody>
      </p:sp>
      <p:sp>
        <p:nvSpPr>
          <p:cNvPr id="13" name="step1:text-114">
            <a:extLst>
              <a:ext uri="{FF2B5EF4-FFF2-40B4-BE49-F238E27FC236}">
                <ns2:creationId id="{7960ED25-CE65-4738-B4F4-0CD1E8509746}"/>
              </a:ext>
            </a:extLst>
          </p:cNvPr>
          <p:cNvSpPr>
            <a:spLocks noGrp="1"/>
          </p:cNvSpPr>
          <p:nvPr/>
        </p:nvSpPr>
        <p:spPr>
          <a:xfrm>
            <a:off x="904875" y="3829050"/>
            <a:ext cx="2619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AI 能力</a:t>
            </a:r>
          </a:p>
        </p:txBody>
      </p:sp>
      <p:sp>
        <p:nvSpPr>
          <p:cNvPr id="14" name="step1:text-115">
            <a:extLst>
              <a:ext uri="{FF2B5EF4-FFF2-40B4-BE49-F238E27FC236}">
                <ns2:creationId id="{ADAFB36A-212A-42CF-B5CF-5CFA8B9AA61D}"/>
              </a:ext>
            </a:extLst>
          </p:cNvPr>
          <p:cNvSpPr>
            <a:spLocks noGrp="1"/>
          </p:cNvSpPr>
          <p:nvPr/>
        </p:nvSpPr>
        <p:spPr>
          <a:xfrm>
            <a:off x="904875" y="457200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技术与创造</a:t>
            </a:r>
          </a:p>
        </p:txBody>
      </p:sp>
      <p:sp>
        <p:nvSpPr>
          <p:cNvPr id="15" name="step2:panel-116">
            <a:extLst>
              <a:ext uri="{FF2B5EF4-FFF2-40B4-BE49-F238E27FC236}">
                <ns2:creationId id="{619ED0AC-02F7-4460-8DF6-9FEA70D50F02}"/>
              </a:ext>
            </a:extLst>
          </p:cNvPr>
          <p:cNvSpPr>
            <a:spLocks noGrp="1"/>
          </p:cNvSpPr>
          <p:nvPr/>
        </p:nvSpPr>
        <p:spPr>
          <a:xfrm>
            <a:off x="4314825" y="3095625"/>
            <a:ext cx="2981325" cy="2076450"/>
          </a:xfrm>
          <a:prstGeom prst="roundRect">
            <a:avLst>
              <a:gd name="adj" fmla="val 2752"/>
            </a:avLst>
          </a:prstGeom>
          <a:solidFill>
            <a:srgbClr val="E0ECD8"/>
          </a:solidFill>
          <a:ln w="9525">
            <a:solidFill>
              <a:srgbClr val="D6DFD3"/>
            </a:solidFill>
            <a:prstDash val="solid"/>
          </a:ln>
        </p:spPr>
      </p:sp>
      <p:sp>
        <p:nvSpPr>
          <p:cNvPr id="16" name="step2:text-117">
            <a:extLst>
              <a:ext uri="{FF2B5EF4-FFF2-40B4-BE49-F238E27FC236}">
                <ns2:creationId id="{827CA069-47C0-4D16-AEF3-8BB46B20EFCE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02 / 共享</a:t>
            </a:r>
          </a:p>
        </p:txBody>
      </p:sp>
      <p:sp>
        <p:nvSpPr>
          <p:cNvPr id="17" name="step2:text-118">
            <a:extLst>
              <a:ext uri="{FF2B5EF4-FFF2-40B4-BE49-F238E27FC236}">
                <ns2:creationId id="{DF7713E8-2393-452F-A744-F65B6C083235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2619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数字公共品</a:t>
            </a:r>
          </a:p>
        </p:txBody>
      </p:sp>
      <p:sp>
        <p:nvSpPr>
          <p:cNvPr id="18" name="step2:text-119">
            <a:extLst>
              <a:ext uri="{FF2B5EF4-FFF2-40B4-BE49-F238E27FC236}">
                <ns2:creationId id="{C08C95E6-7211-4336-AA78-E61493D61345}"/>
              </a:ext>
            </a:extLst>
          </p:cNvPr>
          <p:cNvSpPr>
            <a:spLocks noGrp="1"/>
          </p:cNvSpPr>
          <p:nvPr/>
        </p:nvSpPr>
        <p:spPr>
          <a:xfrm>
            <a:off x="4533900" y="457200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工具、数据与知识</a:t>
            </a:r>
          </a:p>
        </p:txBody>
      </p:sp>
      <p:cxnSp>
        <p:nvCxnSpPr>
          <p:cNvPr id="19" name="step2:arrow-120">
            <a:extLst>
              <a:ext uri="{FF2B5EF4-FFF2-40B4-BE49-F238E27FC236}">
                <ns2:creationId id="{83F14FE5-FF43-44B4-9C87-ECC38A627E5B}"/>
              </a:ext>
            </a:extLst>
          </p:cNvPr>
          <p:cNvCxnSpPr/>
          <p:nvPr/>
        </p:nvCxnSpPr>
        <p:spPr>
          <a:xfrm>
            <a:off x="3771900" y="4133850"/>
            <a:ext cx="419100" cy="0"/>
          </a:xfrm>
          <a:prstGeom prst="straightConnector1">
            <a:avLst/>
          </a:prstGeom>
          <a:ln w="20955">
            <a:solidFill>
              <a:srgbClr val="277C65"/>
            </a:solidFill>
            <a:tailEnd type="triangle" w="med" len="med"/>
          </a:ln>
        </p:spPr>
      </p:cxnSp>
      <p:sp>
        <p:nvSpPr>
          <p:cNvPr id="20" name="step3:panel-121">
            <a:extLst>
              <a:ext uri="{FF2B5EF4-FFF2-40B4-BE49-F238E27FC236}">
                <ns2:creationId id="{9621029D-9EC4-43CE-BCD2-41C1B8C3F976}"/>
              </a:ext>
            </a:extLst>
          </p:cNvPr>
          <p:cNvSpPr>
            <a:spLocks noGrp="1"/>
          </p:cNvSpPr>
          <p:nvPr/>
        </p:nvSpPr>
        <p:spPr>
          <a:xfrm>
            <a:off x="7943850" y="3095625"/>
            <a:ext cx="2981325" cy="207645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sp>
        <p:nvSpPr>
          <p:cNvPr id="21" name="step3:text-122">
            <a:extLst>
              <a:ext uri="{FF2B5EF4-FFF2-40B4-BE49-F238E27FC236}">
                <ns2:creationId id="{E198B747-3778-4E5D-B846-E43B8FCDF7F7}"/>
              </a:ext>
            </a:extLst>
          </p:cNvPr>
          <p:cNvSpPr>
            <a:spLocks noGrp="1"/>
          </p:cNvSpPr>
          <p:nvPr/>
        </p:nvSpPr>
        <p:spPr>
          <a:xfrm>
            <a:off x="8162925" y="3333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03 / 采用</a:t>
            </a:r>
          </a:p>
        </p:txBody>
      </p:sp>
      <p:sp>
        <p:nvSpPr>
          <p:cNvPr id="22" name="step3:text-123">
            <a:extLst>
              <a:ext uri="{FF2B5EF4-FFF2-40B4-BE49-F238E27FC236}">
                <ns2:creationId id="{96EDC790-08D1-4EDC-9157-9AB8941AC804}"/>
              </a:ext>
            </a:extLst>
          </p:cNvPr>
          <p:cNvSpPr>
            <a:spLocks noGrp="1"/>
          </p:cNvSpPr>
          <p:nvPr/>
        </p:nvSpPr>
        <p:spPr>
          <a:xfrm>
            <a:off x="8162925" y="3829050"/>
            <a:ext cx="2619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采用与本地化</a:t>
            </a:r>
          </a:p>
        </p:txBody>
      </p:sp>
      <p:sp>
        <p:nvSpPr>
          <p:cNvPr id="23" name="step3:text-124">
            <a:extLst>
              <a:ext uri="{FF2B5EF4-FFF2-40B4-BE49-F238E27FC236}">
                <ns2:creationId id="{7C031505-52F3-4F60-B50E-24D3A7C5220B}"/>
              </a:ext>
            </a:extLst>
          </p:cNvPr>
          <p:cNvSpPr>
            <a:spLocks noGrp="1"/>
          </p:cNvSpPr>
          <p:nvPr/>
        </p:nvSpPr>
        <p:spPr>
          <a:xfrm>
            <a:off x="8162925" y="457200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适合实际需要</a:t>
            </a:r>
          </a:p>
        </p:txBody>
      </p:sp>
      <p:cxnSp>
        <p:nvCxnSpPr>
          <p:cNvPr id="24" name="step3:arrow-125">
            <a:extLst>
              <a:ext uri="{FF2B5EF4-FFF2-40B4-BE49-F238E27FC236}">
                <ns2:creationId id="{2A12BE1F-5DB4-44F7-B34C-2F956019CC17}"/>
              </a:ext>
            </a:extLst>
          </p:cNvPr>
          <p:cNvCxnSpPr/>
          <p:nvPr/>
        </p:nvCxnSpPr>
        <p:spPr>
          <a:xfrm>
            <a:off x="7400925" y="4133850"/>
            <a:ext cx="419100" cy="0"/>
          </a:xfrm>
          <a:prstGeom prst="straightConnector1">
            <a:avLst/>
          </a:prstGeom>
          <a:ln w="20955">
            <a:solidFill>
              <a:srgbClr val="277C65"/>
            </a:solidFill>
            <a:tailEnd type="triangle" w="med" len="med"/>
          </a:ln>
        </p:spPr>
      </p:cxnSp>
      <p:sp>
        <p:nvSpPr>
          <p:cNvPr id="25" name="step4:panel-126">
            <a:extLst>
              <a:ext uri="{FF2B5EF4-FFF2-40B4-BE49-F238E27FC236}">
                <ns2:creationId id="{6C1D4802-291A-4D8C-B61C-0A0D7048FB37}"/>
              </a:ext>
            </a:extLst>
          </p:cNvPr>
          <p:cNvSpPr>
            <a:spLocks noGrp="1"/>
          </p:cNvSpPr>
          <p:nvPr/>
        </p:nvSpPr>
        <p:spPr>
          <a:xfrm>
            <a:off x="11572875" y="3095625"/>
            <a:ext cx="2981325" cy="207645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6DFD3"/>
            </a:solidFill>
            <a:prstDash val="solid"/>
          </a:ln>
        </p:spPr>
      </p:sp>
      <p:sp>
        <p:nvSpPr>
          <p:cNvPr id="26" name="step4:text-127">
            <a:extLst>
              <a:ext uri="{FF2B5EF4-FFF2-40B4-BE49-F238E27FC236}">
                <ns2:creationId id="{EB5D42B3-48CB-44BC-B008-C8BB5EFAB01B}"/>
              </a:ext>
            </a:extLst>
          </p:cNvPr>
          <p:cNvSpPr>
            <a:spLocks noGrp="1"/>
          </p:cNvSpPr>
          <p:nvPr/>
        </p:nvSpPr>
        <p:spPr>
          <a:xfrm>
            <a:off x="11791950" y="3333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04 / 受益</a:t>
            </a:r>
          </a:p>
        </p:txBody>
      </p:sp>
      <p:sp>
        <p:nvSpPr>
          <p:cNvPr id="27" name="step4:text-128">
            <a:extLst>
              <a:ext uri="{FF2B5EF4-FFF2-40B4-BE49-F238E27FC236}">
                <ns2:creationId id="{51E77862-C96F-450A-8100-7B07C429B3FA}"/>
              </a:ext>
            </a:extLst>
          </p:cNvPr>
          <p:cNvSpPr>
            <a:spLocks noGrp="1"/>
          </p:cNvSpPr>
          <p:nvPr/>
        </p:nvSpPr>
        <p:spPr>
          <a:xfrm>
            <a:off x="11791950" y="3829050"/>
            <a:ext cx="2619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真实帮助</a:t>
            </a:r>
          </a:p>
        </p:txBody>
      </p:sp>
      <p:sp>
        <p:nvSpPr>
          <p:cNvPr id="28" name="step4:text-129">
            <a:extLst>
              <a:ext uri="{FF2B5EF4-FFF2-40B4-BE49-F238E27FC236}">
                <ns2:creationId id="{5CB5DB44-EC26-45E8-AC46-E2FD9038E50A}"/>
              </a:ext>
            </a:extLst>
          </p:cNvPr>
          <p:cNvSpPr>
            <a:spLocks noGrp="1"/>
          </p:cNvSpPr>
          <p:nvPr/>
        </p:nvSpPr>
        <p:spPr>
          <a:xfrm>
            <a:off x="11791950" y="457200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反馈与效果</a:t>
            </a:r>
          </a:p>
        </p:txBody>
      </p:sp>
      <p:cxnSp>
        <p:nvCxnSpPr>
          <p:cNvPr id="29" name="step4:arrow-130">
            <a:extLst>
              <a:ext uri="{FF2B5EF4-FFF2-40B4-BE49-F238E27FC236}">
                <ns2:creationId id="{E835D6F6-6B37-4E6D-9DD9-8A6A7F540A01}"/>
              </a:ext>
            </a:extLst>
          </p:cNvPr>
          <p:cNvCxnSpPr/>
          <p:nvPr/>
        </p:nvCxnSpPr>
        <p:spPr>
          <a:xfrm>
            <a:off x="11029950" y="4133850"/>
            <a:ext cx="419100" cy="0"/>
          </a:xfrm>
          <a:prstGeom prst="straightConnector1">
            <a:avLst/>
          </a:prstGeom>
          <a:ln w="20955">
            <a:solidFill>
              <a:srgbClr val="277C65"/>
            </a:solidFill>
            <a:tailEnd type="triangle" w="med" len="med"/>
          </a:ln>
        </p:spPr>
      </p:cxnSp>
      <p:sp>
        <p:nvSpPr>
          <p:cNvPr id="30" name="step5:panel-131">
            <a:extLst>
              <a:ext uri="{FF2B5EF4-FFF2-40B4-BE49-F238E27FC236}">
                <ns2:creationId id="{D206C8A5-F03F-48A1-98A4-5B8515ECA9B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3868400" cy="1304925"/>
          </a:xfrm>
          <a:prstGeom prst="roundRect">
            <a:avLst>
              <a:gd name="adj" fmla="val 4380"/>
            </a:avLst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31" name="">
            <a:extLst>
              <a:ext uri="{FF2B5EF4-FFF2-40B4-BE49-F238E27FC236}">
                <ns2:creationId id="{86AA1524-0DAA-434E-B7BB-4ADA2E49033C}"/>
              </a:ext>
            </a:extLst>
          </p:cNvPr>
          <p:cNvPicPr>
            <a:picLocks noChangeAspect="1"/>
          </p:cNvPicPr>
          <p:nvPr/>
        </p:nvPicPr>
        <p:blipFill>
          <a:blip r:embed="R35f465b168ad4be2"/>
          <a:stretch/>
        </p:blipFill>
        <p:spPr>
          <a:xfrm>
            <a:off x="981075" y="5905500"/>
            <a:ext cx="685800" cy="685800"/>
          </a:xfrm>
          <a:prstGeom prst="rect">
            <a:avLst/>
          </a:prstGeom>
        </p:spPr>
      </p:pic>
      <p:sp>
        <p:nvSpPr>
          <p:cNvPr id="32" name="step5:text-132">
            <a:extLst>
              <a:ext uri="{FF2B5EF4-FFF2-40B4-BE49-F238E27FC236}">
                <ns2:creationId id="{2463E68D-A6D0-4AB2-BF28-85A9C7FCFA42}"/>
              </a:ext>
            </a:extLst>
          </p:cNvPr>
          <p:cNvSpPr>
            <a:spLocks noGrp="1"/>
          </p:cNvSpPr>
          <p:nvPr/>
        </p:nvSpPr>
        <p:spPr>
          <a:xfrm>
            <a:off x="1981200" y="577215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6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可共享的成果，值得持续维护。</a:t>
            </a:r>
          </a:p>
        </p:txBody>
      </p:sp>
      <p:sp>
        <p:nvSpPr>
          <p:cNvPr id="33" name="step5:text-133">
            <a:extLst>
              <a:ext uri="{FF2B5EF4-FFF2-40B4-BE49-F238E27FC236}">
                <ns2:creationId id="{945A8CE3-83DB-4303-A3AD-1FD60557FA18}"/>
              </a:ext>
            </a:extLst>
          </p:cNvPr>
          <p:cNvSpPr>
            <a:spLocks noGrp="1"/>
          </p:cNvSpPr>
          <p:nvPr/>
        </p:nvSpPr>
        <p:spPr>
          <a:xfrm>
            <a:off x="2000250" y="6410325"/>
            <a:ext cx="1000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开放的软件、AI 系统、数据与知识</a:t>
            </a:r>
          </a:p>
        </p:txBody>
      </p:sp>
      <p:sp>
        <p:nvSpPr>
          <p:cNvPr id="34" name="step5:text-134">
            <a:extLst>
              <a:ext uri="{FF2B5EF4-FFF2-40B4-BE49-F238E27FC236}">
                <ns2:creationId id="{B47B162D-1991-4BEC-B84C-9859C998061B}"/>
              </a:ext>
            </a:extLst>
          </p:cNvPr>
          <p:cNvSpPr>
            <a:spLocks noGrp="1"/>
          </p:cNvSpPr>
          <p:nvPr/>
        </p:nvSpPr>
        <p:spPr>
          <a:xfrm>
            <a:off x="12382500" y="5876925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8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38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8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DPG</a:t>
            </a:r>
          </a:p>
        </p:txBody>
      </p:sp>
      <p:sp>
        <p:nvSpPr>
          <p:cNvPr id="35" name="text-135">
            <a:extLst>
              <a:ext uri="{FF2B5EF4-FFF2-40B4-BE49-F238E27FC236}">
                <ns2:creationId id="{F67EB626-B34A-4999-B5AF-81EDB1C1BCFD}"/>
              </a:ext>
            </a:extLst>
          </p:cNvPr>
          <p:cNvSpPr>
            <a:spLocks noGrp="1"/>
          </p:cNvSpPr>
          <p:nvPr/>
        </p:nvSpPr>
        <p:spPr>
          <a:xfrm>
            <a:off x="723900" y="7315200"/>
            <a:ext cx="1381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开放许可、文档、维护和场景适配，让共享成果走向真实帮助。</a:t>
            </a:r>
          </a:p>
        </p:txBody>
      </p:sp>
    </p:spTree>
    <p:extLst>
      <p:ext uri="{BB962C8B-B14F-4D97-AF65-F5344CB8AC3E}">
        <ns4:creationId val="2066420409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C2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5" name="panel-136">
            <a:extLst>
              <a:ext uri="{FF2B5EF4-FFF2-40B4-BE49-F238E27FC236}">
                <ns2:creationId id="{B483FE18-BD22-447C-BF7B-CC0EA76A8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A4E72DDD-C9CB-463E-B311-242023BD3B8D}"/>
              </a:ext>
            </a:extLst>
          </p:cNvPr>
          <p:cNvPicPr>
            <a:picLocks noChangeAspect="1"/>
          </p:cNvPicPr>
          <p:nvPr/>
        </p:nvPicPr>
        <p:blipFill>
          <a:blip r:embed="R5e431a88b3ee437c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137">
            <a:extLst>
              <a:ext uri="{FF2B5EF4-FFF2-40B4-BE49-F238E27FC236}">
                <ns2:creationId id="{B5CA685C-F189-4B9D-A316-15BDC5A0B897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138">
            <a:extLst>
              <a:ext uri="{FF2B5EF4-FFF2-40B4-BE49-F238E27FC236}">
                <ns2:creationId id="{1CCB24F7-F0BF-4D81-9371-77C0D4775A51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06 / 10</a:t>
            </a:r>
          </a:p>
        </p:txBody>
      </p:sp>
      <p:sp>
        <p:nvSpPr>
          <p:cNvPr id="5" name="text-139">
            <a:extLst>
              <a:ext uri="{FF2B5EF4-FFF2-40B4-BE49-F238E27FC236}">
                <ns2:creationId id="{7372D753-1911-4162-94DA-3ABB28C2AA88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数据与评价</a:t>
            </a:r>
          </a:p>
        </p:txBody>
      </p:sp>
      <p:sp>
        <p:nvSpPr>
          <p:cNvPr id="6" name="text-140">
            <a:extLst>
              <a:ext uri="{FF2B5EF4-FFF2-40B4-BE49-F238E27FC236}">
                <ns2:creationId id="{49BA8FB4-9F95-4C71-8625-11E1D310BB5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让贡献被看见，</a:t>
            </a:r>
            <a:r>
              <a:rPr sz="360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让支持有依据</a:t>
            </a:r>
          </a:p>
        </p:txBody>
      </p:sp>
      <p:sp>
        <p:nvSpPr>
          <p:cNvPr id="7" name="text-141">
            <a:extLst>
              <a:ext uri="{FF2B5EF4-FFF2-40B4-BE49-F238E27FC236}">
                <ns2:creationId id="{5C801F7A-71E6-4718-8F42-39707977F668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四类工作相互配合，为判断、决策与改进提供共同依据。</a:t>
            </a:r>
          </a:p>
        </p:txBody>
      </p:sp>
      <p:sp>
        <p:nvSpPr>
          <p:cNvPr id="8" name="line-142">
            <a:extLst>
              <a:ext uri="{FF2B5EF4-FFF2-40B4-BE49-F238E27FC236}">
                <ns2:creationId id="{FE892814-F0FE-4F75-B8DF-2C5A8F5E139E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9" name="text-143">
            <a:extLst>
              <a:ext uri="{FF2B5EF4-FFF2-40B4-BE49-F238E27FC236}">
                <ns2:creationId id="{01FA05B8-0175-4D83-A4C5-8181516126CF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144">
            <a:extLst>
              <a:ext uri="{FF2B5EF4-FFF2-40B4-BE49-F238E27FC236}">
                <ns2:creationId id="{5F607DDF-38A0-49EE-AA19-BBC7DB0DD84C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shape-145">
            <a:extLst>
              <a:ext uri="{FF2B5EF4-FFF2-40B4-BE49-F238E27FC236}">
                <ns2:creationId id="{9A0F458D-BF06-4A5B-9266-3AA8C2D634C0}"/>
              </a:ext>
            </a:extLst>
          </p:cNvPr>
          <p:cNvSpPr>
            <a:spLocks noGrp="1"/>
          </p:cNvSpPr>
          <p:nvPr/>
        </p:nvSpPr>
        <p:spPr>
          <a:xfrm>
            <a:off x="1400175" y="3048000"/>
            <a:ext cx="3600450" cy="3600450"/>
          </a:xfrm>
          <a:prstGeom prst="ellipse">
            <a:avLst/>
          </a:prstGeom>
          <a:noFill/>
          <a:ln w="19050">
            <a:solidFill>
              <a:srgbClr val="62816A"/>
            </a:solidFill>
            <a:prstDash val="solid"/>
          </a:ln>
        </p:spPr>
      </p:sp>
      <p:sp>
        <p:nvSpPr>
          <p:cNvPr id="12" name="step1:text-146">
            <a:extLst>
              <a:ext uri="{FF2B5EF4-FFF2-40B4-BE49-F238E27FC236}">
                <ns2:creationId id="{04BD18B9-E5B7-4827-92F0-6E4A91A2778F}"/>
              </a:ext>
            </a:extLst>
          </p:cNvPr>
          <p:cNvSpPr>
            <a:spLocks noGrp="1"/>
          </p:cNvSpPr>
          <p:nvPr/>
        </p:nvSpPr>
        <p:spPr>
          <a:xfrm>
            <a:off x="1600200" y="3457575"/>
            <a:ext cx="320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SHARED CORE</a:t>
            </a:r>
          </a:p>
        </p:txBody>
      </p:sp>
      <p:sp>
        <p:nvSpPr>
          <p:cNvPr id="13" name="step1:text-147">
            <a:extLst>
              <a:ext uri="{FF2B5EF4-FFF2-40B4-BE49-F238E27FC236}">
                <ns2:creationId id="{9C328EEB-3E85-43C0-BB0D-BC3EAC1754B8}"/>
              </a:ext>
            </a:extLst>
          </p:cNvPr>
          <p:cNvSpPr>
            <a:spLocks noGrp="1"/>
          </p:cNvSpPr>
          <p:nvPr/>
        </p:nvSpPr>
        <p:spPr>
          <a:xfrm>
            <a:off x="1657350" y="4038600"/>
            <a:ext cx="30670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27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427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27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数据</a:t>
            </a:r>
          </a:p>
          <a:p>
            <a:pPr algn="ctr">
              <a:defRPr sz="427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27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与评价</a:t>
            </a:r>
          </a:p>
        </p:txBody>
      </p:sp>
      <p:sp>
        <p:nvSpPr>
          <p:cNvPr id="14" name="step1:text-148">
            <a:extLst>
              <a:ext uri="{FF2B5EF4-FFF2-40B4-BE49-F238E27FC236}">
                <ns2:creationId id="{EDD6ACA4-37F9-4673-8E57-251EF57BA062}"/>
              </a:ext>
            </a:extLst>
          </p:cNvPr>
          <p:cNvSpPr>
            <a:spLocks noGrp="1"/>
          </p:cNvSpPr>
          <p:nvPr/>
        </p:nvSpPr>
        <p:spPr>
          <a:xfrm>
            <a:off x="1409700" y="5772150"/>
            <a:ext cx="358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识别贡献   匹配资源   核验效果</a:t>
            </a:r>
          </a:p>
        </p:txBody>
      </p:sp>
      <p:sp>
        <p:nvSpPr>
          <p:cNvPr id="15" name="step2:panel-149">
            <a:extLst>
              <a:ext uri="{FF2B5EF4-FFF2-40B4-BE49-F238E27FC236}">
                <ns2:creationId id="{E97356DE-A6F0-49C7-9BB4-D9A4080DCF37}"/>
              </a:ext>
            </a:extLst>
          </p:cNvPr>
          <p:cNvSpPr>
            <a:spLocks noGrp="1"/>
          </p:cNvSpPr>
          <p:nvPr/>
        </p:nvSpPr>
        <p:spPr>
          <a:xfrm>
            <a:off x="6724650" y="3076575"/>
            <a:ext cx="3819525" cy="1666875"/>
          </a:xfrm>
          <a:prstGeom prst="roundRect">
            <a:avLst>
              <a:gd name="adj" fmla="val 3429"/>
            </a:avLst>
          </a:prstGeom>
          <a:solidFill>
            <a:srgbClr val="1B3C30"/>
          </a:solidFill>
          <a:ln w="9525">
            <a:solidFill>
              <a:srgbClr val="3C6148"/>
            </a:solidFill>
            <a:prstDash val="solid"/>
          </a:ln>
        </p:spPr>
      </p:sp>
      <p:pic>
        <p:nvPicPr>
          <p:cNvPr id="16" name="">
            <a:extLst>
              <a:ext uri="{FF2B5EF4-FFF2-40B4-BE49-F238E27FC236}">
                <ns2:creationId id="{8B0FF9D7-D508-4936-AD41-437AB5E41144}"/>
              </a:ext>
            </a:extLst>
          </p:cNvPr>
          <p:cNvPicPr>
            <a:picLocks noChangeAspect="1"/>
          </p:cNvPicPr>
          <p:nvPr/>
        </p:nvPicPr>
        <p:blipFill>
          <a:blip r:embed="R378c936fdf1a4f22"/>
          <a:stretch/>
        </p:blipFill>
        <p:spPr>
          <a:xfrm>
            <a:off x="6972300" y="3295650"/>
            <a:ext cx="400050" cy="400050"/>
          </a:xfrm>
          <a:prstGeom prst="rect">
            <a:avLst/>
          </a:prstGeom>
        </p:spPr>
      </p:pic>
      <p:sp>
        <p:nvSpPr>
          <p:cNvPr id="17" name="step2:text-150">
            <a:extLst>
              <a:ext uri="{FF2B5EF4-FFF2-40B4-BE49-F238E27FC236}">
                <ns2:creationId id="{AE2B96FB-A651-467E-AFDF-182862343E6E}"/>
              </a:ext>
            </a:extLst>
          </p:cNvPr>
          <p:cNvSpPr>
            <a:spLocks noGrp="1"/>
          </p:cNvSpPr>
          <p:nvPr/>
        </p:nvSpPr>
        <p:spPr>
          <a:xfrm>
            <a:off x="6972300" y="3810000"/>
            <a:ext cx="3352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平台连接</a:t>
            </a:r>
          </a:p>
        </p:txBody>
      </p:sp>
      <p:sp>
        <p:nvSpPr>
          <p:cNvPr id="18" name="step2:text-151">
            <a:extLst>
              <a:ext uri="{FF2B5EF4-FFF2-40B4-BE49-F238E27FC236}">
                <ns2:creationId id="{2627FAB4-288B-49C4-8E27-46BFDF5F3569}"/>
              </a:ext>
            </a:extLst>
          </p:cNvPr>
          <p:cNvSpPr>
            <a:spLocks noGrp="1"/>
          </p:cNvSpPr>
          <p:nvPr/>
        </p:nvSpPr>
        <p:spPr>
          <a:xfrm>
            <a:off x="6972300" y="433387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连接参与者与实践</a:t>
            </a:r>
          </a:p>
        </p:txBody>
      </p:sp>
      <p:sp>
        <p:nvSpPr>
          <p:cNvPr id="19" name="step2:panel-152">
            <a:extLst>
              <a:ext uri="{FF2B5EF4-FFF2-40B4-BE49-F238E27FC236}">
                <ns2:creationId id="{13CE8714-B8C9-45FB-9FF8-1827F3E0BF21}"/>
              </a:ext>
            </a:extLst>
          </p:cNvPr>
          <p:cNvSpPr>
            <a:spLocks noGrp="1"/>
          </p:cNvSpPr>
          <p:nvPr/>
        </p:nvSpPr>
        <p:spPr>
          <a:xfrm>
            <a:off x="10734675" y="3076575"/>
            <a:ext cx="3819525" cy="1666875"/>
          </a:xfrm>
          <a:prstGeom prst="roundRect">
            <a:avLst>
              <a:gd name="adj" fmla="val 3429"/>
            </a:avLst>
          </a:prstGeom>
          <a:solidFill>
            <a:srgbClr val="1B3C30"/>
          </a:solidFill>
          <a:ln w="9525">
            <a:solidFill>
              <a:srgbClr val="3C6148"/>
            </a:solidFill>
            <a:prstDash val="solid"/>
          </a:ln>
        </p:spPr>
      </p:sp>
      <p:pic>
        <p:nvPicPr>
          <p:cNvPr id="20" name="">
            <a:extLst>
              <a:ext uri="{FF2B5EF4-FFF2-40B4-BE49-F238E27FC236}">
                <ns2:creationId id="{31EB2E8E-ADDB-4D0A-B3B7-EEDB665EA7B4}"/>
              </a:ext>
            </a:extLst>
          </p:cNvPr>
          <p:cNvPicPr>
            <a:picLocks noChangeAspect="1"/>
          </p:cNvPicPr>
          <p:nvPr/>
        </p:nvPicPr>
        <p:blipFill>
          <a:blip r:embed="R5266a773dfe24784"/>
          <a:stretch/>
        </p:blipFill>
        <p:spPr>
          <a:xfrm>
            <a:off x="10982325" y="3295650"/>
            <a:ext cx="400050" cy="400050"/>
          </a:xfrm>
          <a:prstGeom prst="rect">
            <a:avLst/>
          </a:prstGeom>
        </p:spPr>
      </p:pic>
      <p:sp>
        <p:nvSpPr>
          <p:cNvPr id="21" name="step2:text-153">
            <a:extLst>
              <a:ext uri="{FF2B5EF4-FFF2-40B4-BE49-F238E27FC236}">
                <ns2:creationId id="{18C658B6-6C6E-4929-9D48-11DE86F18154}"/>
              </a:ext>
            </a:extLst>
          </p:cNvPr>
          <p:cNvSpPr>
            <a:spLocks noGrp="1"/>
          </p:cNvSpPr>
          <p:nvPr/>
        </p:nvSpPr>
        <p:spPr>
          <a:xfrm>
            <a:off x="10982325" y="3810000"/>
            <a:ext cx="3352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数据证据</a:t>
            </a:r>
          </a:p>
        </p:txBody>
      </p:sp>
      <p:sp>
        <p:nvSpPr>
          <p:cNvPr id="22" name="step2:text-154">
            <a:extLst>
              <a:ext uri="{FF2B5EF4-FFF2-40B4-BE49-F238E27FC236}">
                <ns2:creationId id="{3128332A-B96D-4066-94DF-629C227B48F7}"/>
              </a:ext>
            </a:extLst>
          </p:cNvPr>
          <p:cNvSpPr>
            <a:spLocks noGrp="1"/>
          </p:cNvSpPr>
          <p:nvPr/>
        </p:nvSpPr>
        <p:spPr>
          <a:xfrm>
            <a:off x="10982325" y="433387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形成可追溯的依据</a:t>
            </a:r>
          </a:p>
        </p:txBody>
      </p:sp>
      <p:sp>
        <p:nvSpPr>
          <p:cNvPr id="23" name="step2:panel-155">
            <a:extLst>
              <a:ext uri="{FF2B5EF4-FFF2-40B4-BE49-F238E27FC236}">
                <ns2:creationId id="{B3E74A31-9FB8-4184-B100-2227AFA40099}"/>
              </a:ext>
            </a:extLst>
          </p:cNvPr>
          <p:cNvSpPr>
            <a:spLocks noGrp="1"/>
          </p:cNvSpPr>
          <p:nvPr/>
        </p:nvSpPr>
        <p:spPr>
          <a:xfrm>
            <a:off x="6724650" y="4933950"/>
            <a:ext cx="3819525" cy="1666875"/>
          </a:xfrm>
          <a:prstGeom prst="roundRect">
            <a:avLst>
              <a:gd name="adj" fmla="val 3429"/>
            </a:avLst>
          </a:prstGeom>
          <a:solidFill>
            <a:srgbClr val="1B3C30"/>
          </a:solidFill>
          <a:ln w="9525">
            <a:solidFill>
              <a:srgbClr val="3C6148"/>
            </a:solidFill>
            <a:prstDash val="solid"/>
          </a:ln>
        </p:spPr>
      </p:sp>
      <p:pic>
        <p:nvPicPr>
          <p:cNvPr id="24" name="">
            <a:extLst>
              <a:ext uri="{FF2B5EF4-FFF2-40B4-BE49-F238E27FC236}">
                <ns2:creationId id="{E5F0D8E5-8336-41CC-9C5E-4CBB898099C4}"/>
              </a:ext>
            </a:extLst>
          </p:cNvPr>
          <p:cNvPicPr>
            <a:picLocks noChangeAspect="1"/>
          </p:cNvPicPr>
          <p:nvPr/>
        </p:nvPicPr>
        <p:blipFill>
          <a:blip r:embed="Rc4e6afca23b34bd5"/>
          <a:stretch/>
        </p:blipFill>
        <p:spPr>
          <a:xfrm>
            <a:off x="6972300" y="5153025"/>
            <a:ext cx="400050" cy="400050"/>
          </a:xfrm>
          <a:prstGeom prst="rect">
            <a:avLst/>
          </a:prstGeom>
        </p:spPr>
      </p:pic>
      <p:sp>
        <p:nvSpPr>
          <p:cNvPr id="25" name="step2:text-156">
            <a:extLst>
              <a:ext uri="{FF2B5EF4-FFF2-40B4-BE49-F238E27FC236}">
                <ns2:creationId id="{26D7F83D-3B17-4532-9698-4E3C5B09DD60}"/>
              </a:ext>
            </a:extLst>
          </p:cNvPr>
          <p:cNvSpPr>
            <a:spLocks noGrp="1"/>
          </p:cNvSpPr>
          <p:nvPr/>
        </p:nvSpPr>
        <p:spPr>
          <a:xfrm>
            <a:off x="6972300" y="5667375"/>
            <a:ext cx="3352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评价方法</a:t>
            </a:r>
          </a:p>
        </p:txBody>
      </p:sp>
      <p:sp>
        <p:nvSpPr>
          <p:cNvPr id="26" name="step2:text-157">
            <a:extLst>
              <a:ext uri="{FF2B5EF4-FFF2-40B4-BE49-F238E27FC236}">
                <ns2:creationId id="{054B8CD2-F566-4C5E-90B4-CE52D48530FE}"/>
              </a:ext>
            </a:extLst>
          </p:cNvPr>
          <p:cNvSpPr>
            <a:spLocks noGrp="1"/>
          </p:cNvSpPr>
          <p:nvPr/>
        </p:nvSpPr>
        <p:spPr>
          <a:xfrm>
            <a:off x="6972300" y="619125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解释贡献与效果</a:t>
            </a:r>
          </a:p>
        </p:txBody>
      </p:sp>
      <p:sp>
        <p:nvSpPr>
          <p:cNvPr id="27" name="step2:panel-158">
            <a:extLst>
              <a:ext uri="{FF2B5EF4-FFF2-40B4-BE49-F238E27FC236}">
                <ns2:creationId id="{0950F6FC-E57D-4FA7-9ED7-E8F38F27F679}"/>
              </a:ext>
            </a:extLst>
          </p:cNvPr>
          <p:cNvSpPr>
            <a:spLocks noGrp="1"/>
          </p:cNvSpPr>
          <p:nvPr/>
        </p:nvSpPr>
        <p:spPr>
          <a:xfrm>
            <a:off x="10734675" y="4933950"/>
            <a:ext cx="3819525" cy="1666875"/>
          </a:xfrm>
          <a:prstGeom prst="roundRect">
            <a:avLst>
              <a:gd name="adj" fmla="val 3429"/>
            </a:avLst>
          </a:prstGeom>
          <a:solidFill>
            <a:srgbClr val="1B3C30"/>
          </a:solidFill>
          <a:ln w="9525">
            <a:solidFill>
              <a:srgbClr val="3C6148"/>
            </a:solidFill>
            <a:prstDash val="solid"/>
          </a:ln>
        </p:spPr>
      </p:sp>
      <p:pic>
        <p:nvPicPr>
          <p:cNvPr id="28" name="">
            <a:extLst>
              <a:ext uri="{FF2B5EF4-FFF2-40B4-BE49-F238E27FC236}">
                <ns2:creationId id="{203B0268-1CED-4884-B5EB-0D3E7C831CB5}"/>
              </a:ext>
            </a:extLst>
          </p:cNvPr>
          <p:cNvPicPr>
            <a:picLocks noChangeAspect="1"/>
          </p:cNvPicPr>
          <p:nvPr/>
        </p:nvPicPr>
        <p:blipFill>
          <a:blip r:embed="Rf90be24e3a36459d"/>
          <a:stretch/>
        </p:blipFill>
        <p:spPr>
          <a:xfrm>
            <a:off x="10982325" y="5153025"/>
            <a:ext cx="400050" cy="400050"/>
          </a:xfrm>
          <a:prstGeom prst="rect">
            <a:avLst/>
          </a:prstGeom>
        </p:spPr>
      </p:pic>
      <p:sp>
        <p:nvSpPr>
          <p:cNvPr id="29" name="step2:text-159">
            <a:extLst>
              <a:ext uri="{FF2B5EF4-FFF2-40B4-BE49-F238E27FC236}">
                <ns2:creationId id="{D39AF9B3-A237-47DD-8008-D56A6694AB79}"/>
              </a:ext>
            </a:extLst>
          </p:cNvPr>
          <p:cNvSpPr>
            <a:spLocks noGrp="1"/>
          </p:cNvSpPr>
          <p:nvPr/>
        </p:nvSpPr>
        <p:spPr>
          <a:xfrm>
            <a:off x="10982325" y="5667375"/>
            <a:ext cx="3352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3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评价研究</a:t>
            </a:r>
          </a:p>
        </p:txBody>
      </p:sp>
      <p:sp>
        <p:nvSpPr>
          <p:cNvPr id="30" name="step2:text-160">
            <a:extLst>
              <a:ext uri="{FF2B5EF4-FFF2-40B4-BE49-F238E27FC236}">
                <ns2:creationId id="{9E633B42-E334-4262-AECB-B4F83417DD54}"/>
              </a:ext>
            </a:extLst>
          </p:cNvPr>
          <p:cNvSpPr>
            <a:spLocks noGrp="1"/>
          </p:cNvSpPr>
          <p:nvPr/>
        </p:nvSpPr>
        <p:spPr>
          <a:xfrm>
            <a:off x="10982325" y="619125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检验方法本身</a:t>
            </a:r>
          </a:p>
        </p:txBody>
      </p:sp>
      <p:sp>
        <p:nvSpPr>
          <p:cNvPr id="31" name="step3:line-161">
            <a:extLst>
              <a:ext uri="{FF2B5EF4-FFF2-40B4-BE49-F238E27FC236}">
                <ns2:creationId id="{E766DF3B-D1D8-4584-B626-B308FA99814F}"/>
              </a:ext>
            </a:extLst>
          </p:cNvPr>
          <p:cNvSpPr>
            <a:spLocks noGrp="1"/>
          </p:cNvSpPr>
          <p:nvPr/>
        </p:nvSpPr>
        <p:spPr>
          <a:xfrm>
            <a:off x="685800" y="7077075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32" name="step3:text-162">
            <a:extLst>
              <a:ext uri="{FF2B5EF4-FFF2-40B4-BE49-F238E27FC236}">
                <ns2:creationId id="{03B38BB2-9CA5-44F2-9E3D-78EA1570D390}"/>
              </a:ext>
            </a:extLst>
          </p:cNvPr>
          <p:cNvSpPr>
            <a:spLocks noGrp="1"/>
          </p:cNvSpPr>
          <p:nvPr/>
        </p:nvSpPr>
        <p:spPr>
          <a:xfrm>
            <a:off x="714375" y="7248525"/>
            <a:ext cx="4286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75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评价帮助人成长</a:t>
            </a:r>
          </a:p>
        </p:txBody>
      </p:sp>
      <p:sp>
        <p:nvSpPr>
          <p:cNvPr id="33" name="step3:text-163">
            <a:extLst>
              <a:ext uri="{FF2B5EF4-FFF2-40B4-BE49-F238E27FC236}">
                <ns2:creationId id="{4873DF2A-E3A5-424E-9CB8-BB6822B17E47}"/>
              </a:ext>
            </a:extLst>
          </p:cNvPr>
          <p:cNvSpPr>
            <a:spLocks noGrp="1"/>
          </p:cNvSpPr>
          <p:nvPr/>
        </p:nvSpPr>
        <p:spPr>
          <a:xfrm>
            <a:off x="5048250" y="7248525"/>
            <a:ext cx="9382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多维证据，公开局限，保留质疑与纠错渠道。</a:t>
            </a:r>
          </a:p>
        </p:txBody>
      </p:sp>
      <p:sp>
        <p:nvSpPr>
          <p:cNvPr id="34" name="text-164">
            <a:extLst>
              <a:ext uri="{FF2B5EF4-FFF2-40B4-BE49-F238E27FC236}">
                <ns2:creationId id="{7D7E7DB0-9613-41B6-AD58-B1FB7CEE1025}"/>
              </a:ext>
            </a:extLst>
          </p:cNvPr>
          <p:cNvSpPr>
            <a:spLocks noGrp="1"/>
          </p:cNvSpPr>
          <p:nvPr/>
        </p:nvSpPr>
        <p:spPr>
          <a:xfrm>
            <a:off x="714375" y="7724775"/>
            <a:ext cx="1371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四类工作相互配合；不以单一分数定义人的价值。</a:t>
            </a:r>
          </a:p>
        </p:txBody>
      </p:sp>
    </p:spTree>
    <p:extLst>
      <p:ext uri="{BB962C8B-B14F-4D97-AF65-F5344CB8AC3E}">
        <ns4:creationId val="603028030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C2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0" name="panel-165">
            <a:extLst>
              <a:ext uri="{FF2B5EF4-FFF2-40B4-BE49-F238E27FC236}">
                <ns2:creationId id="{71DCDB3A-C43C-425E-A458-3110D53B9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E1938D5C-2A2A-4F1C-A7E8-F76E9A6D9909}"/>
              </a:ext>
            </a:extLst>
          </p:cNvPr>
          <p:cNvPicPr>
            <a:picLocks noChangeAspect="1"/>
          </p:cNvPicPr>
          <p:nvPr/>
        </p:nvPicPr>
        <p:blipFill>
          <a:blip r:embed="R95845a00746848b7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166">
            <a:extLst>
              <a:ext uri="{FF2B5EF4-FFF2-40B4-BE49-F238E27FC236}">
                <ns2:creationId id="{0CE20B5B-3715-43A3-A0F8-0C3C16E0663C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167">
            <a:extLst>
              <a:ext uri="{FF2B5EF4-FFF2-40B4-BE49-F238E27FC236}">
                <ns2:creationId id="{60BD1B1A-1B58-4541-9092-B919AECC02CE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07 / 10</a:t>
            </a:r>
          </a:p>
        </p:txBody>
      </p:sp>
      <p:sp>
        <p:nvSpPr>
          <p:cNvPr id="5" name="text-168">
            <a:extLst>
              <a:ext uri="{FF2B5EF4-FFF2-40B4-BE49-F238E27FC236}">
                <ns2:creationId id="{A0C8CB33-2F9C-4F4B-98EE-3F09C1E934BD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两个飞轮</a:t>
            </a:r>
          </a:p>
        </p:txBody>
      </p:sp>
      <p:sp>
        <p:nvSpPr>
          <p:cNvPr id="6" name="text-169">
            <a:extLst>
              <a:ext uri="{FF2B5EF4-FFF2-40B4-BE49-F238E27FC236}">
                <ns2:creationId id="{87EE406D-7E9C-4F33-97F4-BFC50428E05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两轮相促，</a:t>
            </a:r>
            <a:r>
              <a:rPr sz="360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持续发生</a:t>
            </a:r>
          </a:p>
        </p:txBody>
      </p:sp>
      <p:sp>
        <p:nvSpPr>
          <p:cNvPr id="7" name="text-170">
            <a:extLst>
              <a:ext uri="{FF2B5EF4-FFF2-40B4-BE49-F238E27FC236}">
                <ns2:creationId id="{0409AF5C-0EC2-440A-B296-62F5C161A296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成长创造公共价值，投入支持下一轮实践。</a:t>
            </a:r>
          </a:p>
        </p:txBody>
      </p:sp>
      <p:sp>
        <p:nvSpPr>
          <p:cNvPr id="8" name="line-171">
            <a:extLst>
              <a:ext uri="{FF2B5EF4-FFF2-40B4-BE49-F238E27FC236}">
                <ns2:creationId id="{0AF4C722-5ADC-4F85-96DB-404C6FF305D6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9" name="text-172">
            <a:extLst>
              <a:ext uri="{FF2B5EF4-FFF2-40B4-BE49-F238E27FC236}">
                <ns2:creationId id="{BA40216D-D183-408D-A2A1-7D9AD99D282C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173">
            <a:extLst>
              <a:ext uri="{FF2B5EF4-FFF2-40B4-BE49-F238E27FC236}">
                <ns2:creationId id="{567D8A85-9A44-4CA6-801D-9E952856569D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shape-174">
            <a:extLst>
              <a:ext uri="{FF2B5EF4-FFF2-40B4-BE49-F238E27FC236}">
                <ns2:creationId id="{EEB6FF18-45EC-4848-B0D6-33A210E30EC3}"/>
              </a:ext>
            </a:extLst>
          </p:cNvPr>
          <p:cNvSpPr>
            <a:spLocks noGrp="1"/>
          </p:cNvSpPr>
          <p:nvPr/>
        </p:nvSpPr>
        <p:spPr>
          <a:xfrm>
            <a:off x="1562100" y="2971800"/>
            <a:ext cx="3429000" cy="3429000"/>
          </a:xfrm>
          <a:prstGeom prst="ellipse">
            <a:avLst/>
          </a:prstGeom>
          <a:noFill/>
          <a:ln w="20003">
            <a:solidFill>
              <a:srgbClr val="67C9AB"/>
            </a:solidFill>
            <a:prstDash val="solid"/>
          </a:ln>
        </p:spPr>
      </p:sp>
      <p:cxnSp>
        <p:nvCxnSpPr>
          <p:cNvPr id="12" name="step1:clockwise-175">
            <a:extLst>
              <a:ext uri="{FF2B5EF4-FFF2-40B4-BE49-F238E27FC236}">
                <ns2:creationId id="{209117BF-08D9-4108-973D-C6D2BBCB1259}"/>
              </a:ext>
            </a:extLst>
          </p:cNvPr>
          <p:cNvCxnSpPr/>
          <p:nvPr/>
        </p:nvCxnSpPr>
        <p:spPr>
          <a:xfrm rot="2700000">
            <a:off x="4422260" y="3473965"/>
            <a:ext cx="133350" cy="0"/>
          </a:xfrm>
          <a:prstGeom prst="straightConnector1">
            <a:avLst/>
          </a:prstGeom>
          <a:ln w="22860">
            <a:solidFill>
              <a:srgbClr val="67C9AB"/>
            </a:solidFill>
            <a:tailEnd type="triangle" w="med" len="med"/>
          </a:ln>
        </p:spPr>
      </p:cxnSp>
      <p:cxnSp>
        <p:nvCxnSpPr>
          <p:cNvPr id="13" name="step1:clockwise-176">
            <a:extLst>
              <a:ext uri="{FF2B5EF4-FFF2-40B4-BE49-F238E27FC236}">
                <ns2:creationId id="{28E613D5-A32E-459C-9B15-6E91A20D8184}"/>
              </a:ext>
            </a:extLst>
          </p:cNvPr>
          <p:cNvCxnSpPr/>
          <p:nvPr/>
        </p:nvCxnSpPr>
        <p:spPr>
          <a:xfrm rot="8100000">
            <a:off x="4422260" y="5898635"/>
            <a:ext cx="133350" cy="0"/>
          </a:xfrm>
          <a:prstGeom prst="straightConnector1">
            <a:avLst/>
          </a:prstGeom>
          <a:ln w="22860">
            <a:solidFill>
              <a:srgbClr val="67C9AB"/>
            </a:solidFill>
            <a:tailEnd type="triangle" w="med" len="med"/>
          </a:ln>
        </p:spPr>
      </p:cxnSp>
      <p:cxnSp>
        <p:nvCxnSpPr>
          <p:cNvPr id="14" name="step1:clockwise-177">
            <a:extLst>
              <a:ext uri="{FF2B5EF4-FFF2-40B4-BE49-F238E27FC236}">
                <ns2:creationId id="{2483D1FC-3CDB-48F3-9C8C-480CE0BD94D3}"/>
              </a:ext>
            </a:extLst>
          </p:cNvPr>
          <p:cNvCxnSpPr/>
          <p:nvPr/>
        </p:nvCxnSpPr>
        <p:spPr>
          <a:xfrm rot="13500000">
            <a:off x="1997590" y="5898635"/>
            <a:ext cx="133350" cy="0"/>
          </a:xfrm>
          <a:prstGeom prst="straightConnector1">
            <a:avLst/>
          </a:prstGeom>
          <a:ln w="22860">
            <a:solidFill>
              <a:srgbClr val="67C9AB"/>
            </a:solidFill>
            <a:tailEnd type="triangle" w="med" len="med"/>
          </a:ln>
        </p:spPr>
      </p:cxnSp>
      <p:cxnSp>
        <p:nvCxnSpPr>
          <p:cNvPr id="15" name="step1:clockwise-178">
            <a:extLst>
              <a:ext uri="{FF2B5EF4-FFF2-40B4-BE49-F238E27FC236}">
                <ns2:creationId id="{FD12A4FE-1395-47EB-B752-4FA9EE967340}"/>
              </a:ext>
            </a:extLst>
          </p:cNvPr>
          <p:cNvCxnSpPr/>
          <p:nvPr/>
        </p:nvCxnSpPr>
        <p:spPr>
          <a:xfrm rot="18900000">
            <a:off x="1997590" y="3473965"/>
            <a:ext cx="133350" cy="0"/>
          </a:xfrm>
          <a:prstGeom prst="straightConnector1">
            <a:avLst/>
          </a:prstGeom>
          <a:ln w="22860">
            <a:solidFill>
              <a:srgbClr val="67C9AB"/>
            </a:solidFill>
            <a:tailEnd type="triangle" w="med" len="med"/>
          </a:ln>
        </p:spPr>
      </p:cxnSp>
      <p:sp>
        <p:nvSpPr>
          <p:cNvPr id="16" name="step1:text-179">
            <a:extLst>
              <a:ext uri="{FF2B5EF4-FFF2-40B4-BE49-F238E27FC236}">
                <ns2:creationId id="{F99AE686-7B67-42D3-8C77-0789A80BF0AD}"/>
              </a:ext>
            </a:extLst>
          </p:cNvPr>
          <p:cNvSpPr>
            <a:spLocks noGrp="1"/>
          </p:cNvSpPr>
          <p:nvPr/>
        </p:nvSpPr>
        <p:spPr>
          <a:xfrm>
            <a:off x="1895475" y="4352925"/>
            <a:ext cx="276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700" b="1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00" b="1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rPr>
              <a:t>成长飞轮</a:t>
            </a:r>
          </a:p>
        </p:txBody>
      </p:sp>
      <p:sp>
        <p:nvSpPr>
          <p:cNvPr id="17" name="step1:text-180">
            <a:extLst>
              <a:ext uri="{FF2B5EF4-FFF2-40B4-BE49-F238E27FC236}">
                <ns2:creationId id="{AC0D0A21-46AB-4C78-B5B6-A2F32958FABF}"/>
              </a:ext>
            </a:extLst>
          </p:cNvPr>
          <p:cNvSpPr>
            <a:spLocks noGrp="1"/>
          </p:cNvSpPr>
          <p:nvPr/>
        </p:nvSpPr>
        <p:spPr>
          <a:xfrm>
            <a:off x="2057400" y="5000625"/>
            <a:ext cx="2438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从实践，到创造</a:t>
            </a:r>
          </a:p>
        </p:txBody>
      </p:sp>
      <p:sp>
        <p:nvSpPr>
          <p:cNvPr id="18" name="step1:panel-181">
            <a:extLst>
              <a:ext uri="{FF2B5EF4-FFF2-40B4-BE49-F238E27FC236}">
                <ns2:creationId id="{7EDAEB34-88EA-449D-8993-3ACC76279BAB}"/>
              </a:ext>
            </a:extLst>
          </p:cNvPr>
          <p:cNvSpPr>
            <a:spLocks noGrp="1"/>
          </p:cNvSpPr>
          <p:nvPr/>
        </p:nvSpPr>
        <p:spPr>
          <a:xfrm>
            <a:off x="2466975" y="26289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173C32"/>
          </a:solidFill>
          <a:ln w="9525">
            <a:solidFill>
              <a:srgbClr val="67C9AB"/>
            </a:solidFill>
            <a:prstDash val="solid"/>
          </a:ln>
        </p:spPr>
      </p:sp>
      <p:sp>
        <p:nvSpPr>
          <p:cNvPr id="19" name="step1:text-182">
            <a:extLst>
              <a:ext uri="{FF2B5EF4-FFF2-40B4-BE49-F238E27FC236}">
                <ns2:creationId id="{2D5E9956-C931-452B-B496-7B37BF260201}"/>
              </a:ext>
            </a:extLst>
          </p:cNvPr>
          <p:cNvSpPr>
            <a:spLocks noGrp="1"/>
          </p:cNvSpPr>
          <p:nvPr/>
        </p:nvSpPr>
        <p:spPr>
          <a:xfrm>
            <a:off x="2524125" y="26955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实践贡献</a:t>
            </a:r>
          </a:p>
        </p:txBody>
      </p:sp>
      <p:sp>
        <p:nvSpPr>
          <p:cNvPr id="20" name="step1:text-183">
            <a:extLst>
              <a:ext uri="{FF2B5EF4-FFF2-40B4-BE49-F238E27FC236}">
                <ns2:creationId id="{9E48C617-D55F-4A08-9659-3BE1EF346F39}"/>
              </a:ext>
            </a:extLst>
          </p:cNvPr>
          <p:cNvSpPr>
            <a:spLocks noGrp="1"/>
          </p:cNvSpPr>
          <p:nvPr/>
        </p:nvSpPr>
        <p:spPr>
          <a:xfrm>
            <a:off x="2562225" y="3038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21" name="step1:panel-184">
            <a:extLst>
              <a:ext uri="{FF2B5EF4-FFF2-40B4-BE49-F238E27FC236}">
                <ns2:creationId id="{1A390400-96D0-4316-A093-7B356B8C9BE5}"/>
              </a:ext>
            </a:extLst>
          </p:cNvPr>
          <p:cNvSpPr>
            <a:spLocks noGrp="1"/>
          </p:cNvSpPr>
          <p:nvPr/>
        </p:nvSpPr>
        <p:spPr>
          <a:xfrm>
            <a:off x="4181475" y="43434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173C32"/>
          </a:solidFill>
          <a:ln w="9525">
            <a:solidFill>
              <a:srgbClr val="67C9AB"/>
            </a:solidFill>
            <a:prstDash val="solid"/>
          </a:ln>
        </p:spPr>
      </p:sp>
      <p:sp>
        <p:nvSpPr>
          <p:cNvPr id="22" name="step1:text-185">
            <a:extLst>
              <a:ext uri="{FF2B5EF4-FFF2-40B4-BE49-F238E27FC236}">
                <ns2:creationId id="{AC21921C-D3BA-497C-B290-8C14F2952DBD}"/>
              </a:ext>
            </a:extLst>
          </p:cNvPr>
          <p:cNvSpPr>
            <a:spLocks noGrp="1"/>
          </p:cNvSpPr>
          <p:nvPr/>
        </p:nvSpPr>
        <p:spPr>
          <a:xfrm>
            <a:off x="4238625" y="44100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贡献可见</a:t>
            </a:r>
          </a:p>
        </p:txBody>
      </p:sp>
      <p:sp>
        <p:nvSpPr>
          <p:cNvPr id="23" name="step1:text-186">
            <a:extLst>
              <a:ext uri="{FF2B5EF4-FFF2-40B4-BE49-F238E27FC236}">
                <ns2:creationId id="{7E6978E0-344B-4044-B9B8-BAE44A0B3BAC}"/>
              </a:ext>
            </a:extLst>
          </p:cNvPr>
          <p:cNvSpPr>
            <a:spLocks noGrp="1"/>
          </p:cNvSpPr>
          <p:nvPr/>
        </p:nvSpPr>
        <p:spPr>
          <a:xfrm>
            <a:off x="4276725" y="47529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24" name="step1:panel-187">
            <a:extLst>
              <a:ext uri="{FF2B5EF4-FFF2-40B4-BE49-F238E27FC236}">
                <ns2:creationId id="{DA9DAA3B-74CD-40CC-8538-5315DAE00087}"/>
              </a:ext>
            </a:extLst>
          </p:cNvPr>
          <p:cNvSpPr>
            <a:spLocks noGrp="1"/>
          </p:cNvSpPr>
          <p:nvPr/>
        </p:nvSpPr>
        <p:spPr>
          <a:xfrm>
            <a:off x="2466975" y="60579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173C32"/>
          </a:solidFill>
          <a:ln w="9525">
            <a:solidFill>
              <a:srgbClr val="67C9AB"/>
            </a:solidFill>
            <a:prstDash val="solid"/>
          </a:ln>
        </p:spPr>
      </p:sp>
      <p:sp>
        <p:nvSpPr>
          <p:cNvPr id="25" name="step1:text-188">
            <a:extLst>
              <a:ext uri="{FF2B5EF4-FFF2-40B4-BE49-F238E27FC236}">
                <ns2:creationId id="{555A3E9A-3C77-4BE1-823B-1A1C0F41E577}"/>
              </a:ext>
            </a:extLst>
          </p:cNvPr>
          <p:cNvSpPr>
            <a:spLocks noGrp="1"/>
          </p:cNvSpPr>
          <p:nvPr/>
        </p:nvSpPr>
        <p:spPr>
          <a:xfrm>
            <a:off x="2524125" y="61245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人才成长</a:t>
            </a:r>
          </a:p>
        </p:txBody>
      </p:sp>
      <p:sp>
        <p:nvSpPr>
          <p:cNvPr id="26" name="step1:text-189">
            <a:extLst>
              <a:ext uri="{FF2B5EF4-FFF2-40B4-BE49-F238E27FC236}">
                <ns2:creationId id="{9191063E-40F4-49F0-A480-732B6419304B}"/>
              </a:ext>
            </a:extLst>
          </p:cNvPr>
          <p:cNvSpPr>
            <a:spLocks noGrp="1"/>
          </p:cNvSpPr>
          <p:nvPr/>
        </p:nvSpPr>
        <p:spPr>
          <a:xfrm>
            <a:off x="2562225" y="6467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27" name="step1:panel-190">
            <a:extLst>
              <a:ext uri="{FF2B5EF4-FFF2-40B4-BE49-F238E27FC236}">
                <ns2:creationId id="{ABB0D606-12A8-4B68-A2CD-238BFFE5FAAE}"/>
              </a:ext>
            </a:extLst>
          </p:cNvPr>
          <p:cNvSpPr>
            <a:spLocks noGrp="1"/>
          </p:cNvSpPr>
          <p:nvPr/>
        </p:nvSpPr>
        <p:spPr>
          <a:xfrm>
            <a:off x="752475" y="43434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173C32"/>
          </a:solidFill>
          <a:ln w="9525">
            <a:solidFill>
              <a:srgbClr val="67C9AB"/>
            </a:solidFill>
            <a:prstDash val="solid"/>
          </a:ln>
        </p:spPr>
      </p:sp>
      <p:sp>
        <p:nvSpPr>
          <p:cNvPr id="28" name="step1:text-191">
            <a:extLst>
              <a:ext uri="{FF2B5EF4-FFF2-40B4-BE49-F238E27FC236}">
                <ns2:creationId id="{D939E32F-5A16-4C4A-8454-5B9FFA28877B}"/>
              </a:ext>
            </a:extLst>
          </p:cNvPr>
          <p:cNvSpPr>
            <a:spLocks noGrp="1"/>
          </p:cNvSpPr>
          <p:nvPr/>
        </p:nvSpPr>
        <p:spPr>
          <a:xfrm>
            <a:off x="809625" y="44100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公共品与应用</a:t>
            </a:r>
          </a:p>
        </p:txBody>
      </p:sp>
      <p:sp>
        <p:nvSpPr>
          <p:cNvPr id="29" name="step1:text-192">
            <a:extLst>
              <a:ext uri="{FF2B5EF4-FFF2-40B4-BE49-F238E27FC236}">
                <ns2:creationId id="{C6FE841D-AA34-4941-905E-7DB1D73D54A6}"/>
              </a:ext>
            </a:extLst>
          </p:cNvPr>
          <p:cNvSpPr>
            <a:spLocks noGrp="1"/>
          </p:cNvSpPr>
          <p:nvPr/>
        </p:nvSpPr>
        <p:spPr>
          <a:xfrm>
            <a:off x="847725" y="47529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30" name="step2:shape-193">
            <a:extLst>
              <a:ext uri="{FF2B5EF4-FFF2-40B4-BE49-F238E27FC236}">
                <ns2:creationId id="{B1FC3C6B-C66B-4B02-B840-9DC35C868CFE}"/>
              </a:ext>
            </a:extLst>
          </p:cNvPr>
          <p:cNvSpPr>
            <a:spLocks noGrp="1"/>
          </p:cNvSpPr>
          <p:nvPr/>
        </p:nvSpPr>
        <p:spPr>
          <a:xfrm>
            <a:off x="10239375" y="2971800"/>
            <a:ext cx="3429000" cy="3429000"/>
          </a:xfrm>
          <a:prstGeom prst="ellipse">
            <a:avLst/>
          </a:prstGeom>
          <a:noFill/>
          <a:ln w="20003">
            <a:solidFill>
              <a:srgbClr val="A6B8F5"/>
            </a:solidFill>
            <a:prstDash val="solid"/>
          </a:ln>
        </p:spPr>
      </p:sp>
      <p:cxnSp>
        <p:nvCxnSpPr>
          <p:cNvPr id="31" name="step2:clockwise-194">
            <a:extLst>
              <a:ext uri="{FF2B5EF4-FFF2-40B4-BE49-F238E27FC236}">
                <ns2:creationId id="{081956D5-15C6-4719-8FA0-A991C576AFEC}"/>
              </a:ext>
            </a:extLst>
          </p:cNvPr>
          <p:cNvCxnSpPr/>
          <p:nvPr/>
        </p:nvCxnSpPr>
        <p:spPr>
          <a:xfrm rot="2700000">
            <a:off x="13099535" y="3473965"/>
            <a:ext cx="133350" cy="0"/>
          </a:xfrm>
          <a:prstGeom prst="straightConnector1">
            <a:avLst/>
          </a:prstGeom>
          <a:ln w="22860">
            <a:solidFill>
              <a:srgbClr val="A6B8F5"/>
            </a:solidFill>
            <a:tailEnd type="triangle" w="med" len="med"/>
          </a:ln>
        </p:spPr>
      </p:cxnSp>
      <p:cxnSp>
        <p:nvCxnSpPr>
          <p:cNvPr id="32" name="step2:clockwise-195">
            <a:extLst>
              <a:ext uri="{FF2B5EF4-FFF2-40B4-BE49-F238E27FC236}">
                <ns2:creationId id="{876ABD63-AFC2-4390-8997-F22A3099FA27}"/>
              </a:ext>
            </a:extLst>
          </p:cNvPr>
          <p:cNvCxnSpPr/>
          <p:nvPr/>
        </p:nvCxnSpPr>
        <p:spPr>
          <a:xfrm rot="8100000">
            <a:off x="13099535" y="5898635"/>
            <a:ext cx="133350" cy="0"/>
          </a:xfrm>
          <a:prstGeom prst="straightConnector1">
            <a:avLst/>
          </a:prstGeom>
          <a:ln w="22860">
            <a:solidFill>
              <a:srgbClr val="A6B8F5"/>
            </a:solidFill>
            <a:tailEnd type="triangle" w="med" len="med"/>
          </a:ln>
        </p:spPr>
      </p:cxnSp>
      <p:cxnSp>
        <p:nvCxnSpPr>
          <p:cNvPr id="33" name="step2:clockwise-196">
            <a:extLst>
              <a:ext uri="{FF2B5EF4-FFF2-40B4-BE49-F238E27FC236}">
                <ns2:creationId id="{1A880F41-EFCD-4D0D-9C8B-A2003FB4AB67}"/>
              </a:ext>
            </a:extLst>
          </p:cNvPr>
          <p:cNvCxnSpPr/>
          <p:nvPr/>
        </p:nvCxnSpPr>
        <p:spPr>
          <a:xfrm rot="13500000">
            <a:off x="10674865" y="5898635"/>
            <a:ext cx="133350" cy="0"/>
          </a:xfrm>
          <a:prstGeom prst="straightConnector1">
            <a:avLst/>
          </a:prstGeom>
          <a:ln w="22860">
            <a:solidFill>
              <a:srgbClr val="A6B8F5"/>
            </a:solidFill>
            <a:tailEnd type="triangle" w="med" len="med"/>
          </a:ln>
        </p:spPr>
      </p:cxnSp>
      <p:cxnSp>
        <p:nvCxnSpPr>
          <p:cNvPr id="34" name="step2:clockwise-197">
            <a:extLst>
              <a:ext uri="{FF2B5EF4-FFF2-40B4-BE49-F238E27FC236}">
                <ns2:creationId id="{A25C264C-D14F-46DF-B78E-7823F83A84EE}"/>
              </a:ext>
            </a:extLst>
          </p:cNvPr>
          <p:cNvCxnSpPr/>
          <p:nvPr/>
        </p:nvCxnSpPr>
        <p:spPr>
          <a:xfrm rot="18900000">
            <a:off x="10674865" y="3473965"/>
            <a:ext cx="133350" cy="0"/>
          </a:xfrm>
          <a:prstGeom prst="straightConnector1">
            <a:avLst/>
          </a:prstGeom>
          <a:ln w="22860">
            <a:solidFill>
              <a:srgbClr val="A6B8F5"/>
            </a:solidFill>
            <a:tailEnd type="triangle" w="med" len="med"/>
          </a:ln>
        </p:spPr>
      </p:cxnSp>
      <p:sp>
        <p:nvSpPr>
          <p:cNvPr id="35" name="step2:text-198">
            <a:extLst>
              <a:ext uri="{FF2B5EF4-FFF2-40B4-BE49-F238E27FC236}">
                <ns2:creationId id="{8DEAF43F-96E0-494C-8BAB-C54C3FB01F2D}"/>
              </a:ext>
            </a:extLst>
          </p:cNvPr>
          <p:cNvSpPr>
            <a:spLocks noGrp="1"/>
          </p:cNvSpPr>
          <p:nvPr/>
        </p:nvSpPr>
        <p:spPr>
          <a:xfrm>
            <a:off x="10572750" y="4352925"/>
            <a:ext cx="276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700" b="1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700" b="1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rPr>
              <a:t>投入飞轮</a:t>
            </a:r>
          </a:p>
        </p:txBody>
      </p:sp>
      <p:sp>
        <p:nvSpPr>
          <p:cNvPr id="36" name="step2:text-199">
            <a:extLst>
              <a:ext uri="{FF2B5EF4-FFF2-40B4-BE49-F238E27FC236}">
                <ns2:creationId id="{E7DAB9F1-D511-4EB6-B41A-79D537596F48}"/>
              </a:ext>
            </a:extLst>
          </p:cNvPr>
          <p:cNvSpPr>
            <a:spLocks noGrp="1"/>
          </p:cNvSpPr>
          <p:nvPr/>
        </p:nvSpPr>
        <p:spPr>
          <a:xfrm>
            <a:off x="10734675" y="5000625"/>
            <a:ext cx="2438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从支持，到持续</a:t>
            </a:r>
          </a:p>
        </p:txBody>
      </p:sp>
      <p:sp>
        <p:nvSpPr>
          <p:cNvPr id="37" name="step2:panel-200">
            <a:extLst>
              <a:ext uri="{FF2B5EF4-FFF2-40B4-BE49-F238E27FC236}">
                <ns2:creationId id="{762F31E0-4B05-4CB9-9C28-BAA7F27F3B89}"/>
              </a:ext>
            </a:extLst>
          </p:cNvPr>
          <p:cNvSpPr>
            <a:spLocks noGrp="1"/>
          </p:cNvSpPr>
          <p:nvPr/>
        </p:nvSpPr>
        <p:spPr>
          <a:xfrm>
            <a:off x="11144250" y="26289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203B42"/>
          </a:solidFill>
          <a:ln w="9525">
            <a:solidFill>
              <a:srgbClr val="A6B8F5"/>
            </a:solidFill>
            <a:prstDash val="solid"/>
          </a:ln>
        </p:spPr>
      </p:sp>
      <p:sp>
        <p:nvSpPr>
          <p:cNvPr id="38" name="step2:text-201">
            <a:extLst>
              <a:ext uri="{FF2B5EF4-FFF2-40B4-BE49-F238E27FC236}">
                <ns2:creationId id="{F3009836-B14A-450D-AB87-72CA8DC88A04}"/>
              </a:ext>
            </a:extLst>
          </p:cNvPr>
          <p:cNvSpPr>
            <a:spLocks noGrp="1"/>
          </p:cNvSpPr>
          <p:nvPr/>
        </p:nvSpPr>
        <p:spPr>
          <a:xfrm>
            <a:off x="11201400" y="26955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资源投入</a:t>
            </a:r>
          </a:p>
        </p:txBody>
      </p:sp>
      <p:sp>
        <p:nvSpPr>
          <p:cNvPr id="39" name="step2:text-202">
            <a:extLst>
              <a:ext uri="{FF2B5EF4-FFF2-40B4-BE49-F238E27FC236}">
                <ns2:creationId id="{0B59B15C-E86F-4ED7-B8A2-0DCD7C1C2BF6}"/>
              </a:ext>
            </a:extLst>
          </p:cNvPr>
          <p:cNvSpPr>
            <a:spLocks noGrp="1"/>
          </p:cNvSpPr>
          <p:nvPr/>
        </p:nvSpPr>
        <p:spPr>
          <a:xfrm>
            <a:off x="11239500" y="3038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40" name="step2:panel-203">
            <a:extLst>
              <a:ext uri="{FF2B5EF4-FFF2-40B4-BE49-F238E27FC236}">
                <ns2:creationId id="{B4F0F63E-0AB3-4F6D-9A5D-281DFE6E1403}"/>
              </a:ext>
            </a:extLst>
          </p:cNvPr>
          <p:cNvSpPr>
            <a:spLocks noGrp="1"/>
          </p:cNvSpPr>
          <p:nvPr/>
        </p:nvSpPr>
        <p:spPr>
          <a:xfrm>
            <a:off x="12858750" y="43434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203B42"/>
          </a:solidFill>
          <a:ln w="9525">
            <a:solidFill>
              <a:srgbClr val="A6B8F5"/>
            </a:solidFill>
            <a:prstDash val="solid"/>
          </a:ln>
        </p:spPr>
      </p:sp>
      <p:sp>
        <p:nvSpPr>
          <p:cNvPr id="41" name="step2:text-204">
            <a:extLst>
              <a:ext uri="{FF2B5EF4-FFF2-40B4-BE49-F238E27FC236}">
                <ns2:creationId id="{A6765A60-BF57-4717-AD9F-FE8B427779F0}"/>
              </a:ext>
            </a:extLst>
          </p:cNvPr>
          <p:cNvSpPr>
            <a:spLocks noGrp="1"/>
          </p:cNvSpPr>
          <p:nvPr/>
        </p:nvSpPr>
        <p:spPr>
          <a:xfrm>
            <a:off x="12915900" y="44100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匹配支持</a:t>
            </a:r>
          </a:p>
        </p:txBody>
      </p:sp>
      <p:sp>
        <p:nvSpPr>
          <p:cNvPr id="42" name="step2:text-205">
            <a:extLst>
              <a:ext uri="{FF2B5EF4-FFF2-40B4-BE49-F238E27FC236}">
                <ns2:creationId id="{2714F605-3569-47BE-BAC6-87F7455BB8DA}"/>
              </a:ext>
            </a:extLst>
          </p:cNvPr>
          <p:cNvSpPr>
            <a:spLocks noGrp="1"/>
          </p:cNvSpPr>
          <p:nvPr/>
        </p:nvSpPr>
        <p:spPr>
          <a:xfrm>
            <a:off x="12954000" y="47529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43" name="step2:panel-206">
            <a:extLst>
              <a:ext uri="{FF2B5EF4-FFF2-40B4-BE49-F238E27FC236}">
                <ns2:creationId id="{3C488EA5-2933-4AA9-988C-35924322FE34}"/>
              </a:ext>
            </a:extLst>
          </p:cNvPr>
          <p:cNvSpPr>
            <a:spLocks noGrp="1"/>
          </p:cNvSpPr>
          <p:nvPr/>
        </p:nvSpPr>
        <p:spPr>
          <a:xfrm>
            <a:off x="11144250" y="60579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203B42"/>
          </a:solidFill>
          <a:ln w="9525">
            <a:solidFill>
              <a:srgbClr val="A6B8F5"/>
            </a:solidFill>
            <a:prstDash val="solid"/>
          </a:ln>
        </p:spPr>
      </p:sp>
      <p:sp>
        <p:nvSpPr>
          <p:cNvPr id="44" name="step2:text-207">
            <a:extLst>
              <a:ext uri="{FF2B5EF4-FFF2-40B4-BE49-F238E27FC236}">
                <ns2:creationId id="{396810A7-030C-417E-858C-89CD67B3B7BB}"/>
              </a:ext>
            </a:extLst>
          </p:cNvPr>
          <p:cNvSpPr>
            <a:spLocks noGrp="1"/>
          </p:cNvSpPr>
          <p:nvPr/>
        </p:nvSpPr>
        <p:spPr>
          <a:xfrm>
            <a:off x="11201400" y="61245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价值实现</a:t>
            </a:r>
          </a:p>
        </p:txBody>
      </p:sp>
      <p:sp>
        <p:nvSpPr>
          <p:cNvPr id="45" name="step2:text-208">
            <a:extLst>
              <a:ext uri="{FF2B5EF4-FFF2-40B4-BE49-F238E27FC236}">
                <ns2:creationId id="{3724D809-368E-49FF-A067-EE7ECB478725}"/>
              </a:ext>
            </a:extLst>
          </p:cNvPr>
          <p:cNvSpPr>
            <a:spLocks noGrp="1"/>
          </p:cNvSpPr>
          <p:nvPr/>
        </p:nvSpPr>
        <p:spPr>
          <a:xfrm>
            <a:off x="11239500" y="6467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46" name="step2:panel-209">
            <a:extLst>
              <a:ext uri="{FF2B5EF4-FFF2-40B4-BE49-F238E27FC236}">
                <ns2:creationId id="{FF307E43-C2C3-4052-8210-1DD71503C1CD}"/>
              </a:ext>
            </a:extLst>
          </p:cNvPr>
          <p:cNvSpPr>
            <a:spLocks noGrp="1"/>
          </p:cNvSpPr>
          <p:nvPr/>
        </p:nvSpPr>
        <p:spPr>
          <a:xfrm>
            <a:off x="9429750" y="4343400"/>
            <a:ext cx="1619250" cy="685800"/>
          </a:xfrm>
          <a:prstGeom prst="roundRect">
            <a:avLst>
              <a:gd name="adj" fmla="val 8333"/>
            </a:avLst>
          </a:prstGeom>
          <a:solidFill>
            <a:srgbClr val="203B42"/>
          </a:solidFill>
          <a:ln w="9525">
            <a:solidFill>
              <a:srgbClr val="A6B8F5"/>
            </a:solidFill>
            <a:prstDash val="solid"/>
          </a:ln>
        </p:spPr>
      </p:sp>
      <p:sp>
        <p:nvSpPr>
          <p:cNvPr id="47" name="step2:text-210">
            <a:extLst>
              <a:ext uri="{FF2B5EF4-FFF2-40B4-BE49-F238E27FC236}">
                <ns2:creationId id="{11579743-D2C0-4331-8BB5-CC7FE8D37D03}"/>
              </a:ext>
            </a:extLst>
          </p:cNvPr>
          <p:cNvSpPr>
            <a:spLocks noGrp="1"/>
          </p:cNvSpPr>
          <p:nvPr/>
        </p:nvSpPr>
        <p:spPr>
          <a:xfrm>
            <a:off x="9486900" y="4410075"/>
            <a:ext cx="1504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效果验证</a:t>
            </a:r>
          </a:p>
        </p:txBody>
      </p:sp>
      <p:sp>
        <p:nvSpPr>
          <p:cNvPr id="48" name="step2:text-211">
            <a:extLst>
              <a:ext uri="{FF2B5EF4-FFF2-40B4-BE49-F238E27FC236}">
                <ns2:creationId id="{31DC3274-4DFB-4A4C-B49E-CC07F08FCCC7}"/>
              </a:ext>
            </a:extLst>
          </p:cNvPr>
          <p:cNvSpPr>
            <a:spLocks noGrp="1"/>
          </p:cNvSpPr>
          <p:nvPr/>
        </p:nvSpPr>
        <p:spPr>
          <a:xfrm>
            <a:off x="9525000" y="47529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49" name="step3:text-212">
            <a:extLst>
              <a:ext uri="{FF2B5EF4-FFF2-40B4-BE49-F238E27FC236}">
                <ns2:creationId id="{E6DF8B28-D9F4-4810-A1D4-8D6DEFBEE0D5}"/>
              </a:ext>
            </a:extLst>
          </p:cNvPr>
          <p:cNvSpPr>
            <a:spLocks noGrp="1"/>
          </p:cNvSpPr>
          <p:nvPr/>
        </p:nvSpPr>
        <p:spPr>
          <a:xfrm>
            <a:off x="5715000" y="3714750"/>
            <a:ext cx="3810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725" b="0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67C9AB"/>
                </a:solidFill>
                <a:latin typeface="Source Han Sans SC"/>
                <a:ea typeface="Source Han Sans SC"/>
                <a:cs typeface="Source Han Sans SC"/>
              </a:rPr>
              <a:t>公共品创造价值</a:t>
            </a:r>
          </a:p>
        </p:txBody>
      </p:sp>
      <p:cxnSp>
        <p:nvCxnSpPr>
          <p:cNvPr id="50" name="step3:arrow-213">
            <a:extLst>
              <a:ext uri="{FF2B5EF4-FFF2-40B4-BE49-F238E27FC236}">
                <ns2:creationId id="{7DE19CAC-DC7B-44D7-BFDF-C8243910EE83}"/>
              </a:ext>
            </a:extLst>
          </p:cNvPr>
          <p:cNvCxnSpPr/>
          <p:nvPr/>
        </p:nvCxnSpPr>
        <p:spPr>
          <a:xfrm>
            <a:off x="5953125" y="4257675"/>
            <a:ext cx="3324225" cy="0"/>
          </a:xfrm>
          <a:prstGeom prst="straightConnector1">
            <a:avLst/>
          </a:prstGeom>
          <a:ln w="23813">
            <a:solidFill>
              <a:srgbClr val="67C9AB"/>
            </a:solidFill>
            <a:tailEnd type="triangle" w="med" len="med"/>
          </a:ln>
        </p:spPr>
      </p:cxnSp>
      <p:sp>
        <p:nvSpPr>
          <p:cNvPr id="51" name="step3:text-214">
            <a:extLst>
              <a:ext uri="{FF2B5EF4-FFF2-40B4-BE49-F238E27FC236}">
                <ns2:creationId id="{9E8CEF0A-4DC5-421E-A678-FCC3BBEF87BE}"/>
              </a:ext>
            </a:extLst>
          </p:cNvPr>
          <p:cNvSpPr>
            <a:spLocks noGrp="1"/>
          </p:cNvSpPr>
          <p:nvPr/>
        </p:nvSpPr>
        <p:spPr>
          <a:xfrm>
            <a:off x="6096000" y="45529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相互促进</a:t>
            </a:r>
          </a:p>
        </p:txBody>
      </p:sp>
      <p:cxnSp>
        <p:nvCxnSpPr>
          <p:cNvPr id="52" name="step3:arrow-215">
            <a:extLst>
              <a:ext uri="{FF2B5EF4-FFF2-40B4-BE49-F238E27FC236}">
                <ns2:creationId id="{8E9017CE-FF01-4CBA-85F9-5A79B7E690C0}"/>
              </a:ext>
            </a:extLst>
          </p:cNvPr>
          <p:cNvCxnSpPr/>
          <p:nvPr/>
        </p:nvCxnSpPr>
        <p:spPr>
          <a:xfrm>
            <a:off x="5953125" y="5248275"/>
            <a:ext cx="3324225" cy="0"/>
          </a:xfrm>
          <a:prstGeom prst="straightConnector1">
            <a:avLst/>
          </a:prstGeom>
          <a:ln w="23813">
            <a:solidFill>
              <a:srgbClr val="A6B8F5"/>
            </a:solidFill>
            <a:headEnd type="triangle" w="med" len="med"/>
          </a:ln>
        </p:spPr>
      </p:cxnSp>
      <p:sp>
        <p:nvSpPr>
          <p:cNvPr id="53" name="step3:text-216">
            <a:extLst>
              <a:ext uri="{FF2B5EF4-FFF2-40B4-BE49-F238E27FC236}">
                <ns2:creationId id="{9A8063FB-F909-4ED1-B0D3-A251A71B5577}"/>
              </a:ext>
            </a:extLst>
          </p:cNvPr>
          <p:cNvSpPr>
            <a:spLocks noGrp="1"/>
          </p:cNvSpPr>
          <p:nvPr/>
        </p:nvSpPr>
        <p:spPr>
          <a:xfrm>
            <a:off x="5715000" y="5457825"/>
            <a:ext cx="3810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725" b="0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A6B8F5"/>
                </a:solidFill>
                <a:latin typeface="Source Han Sans SC"/>
                <a:ea typeface="Source Han Sans SC"/>
                <a:cs typeface="Source Han Sans SC"/>
              </a:rPr>
              <a:t>资源支持成长</a:t>
            </a:r>
          </a:p>
        </p:txBody>
      </p:sp>
      <p:sp>
        <p:nvSpPr>
          <p:cNvPr id="54" name="step4:text-217">
            <a:extLst>
              <a:ext uri="{FF2B5EF4-FFF2-40B4-BE49-F238E27FC236}">
                <ns2:creationId id="{19C60C1A-FD86-4573-8AE0-C0C47E7C261F}"/>
              </a:ext>
            </a:extLst>
          </p:cNvPr>
          <p:cNvSpPr>
            <a:spLocks noGrp="1"/>
          </p:cNvSpPr>
          <p:nvPr/>
        </p:nvSpPr>
        <p:spPr>
          <a:xfrm>
            <a:off x="1590675" y="67913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实践证据 ↓    ↑ 评价依据</a:t>
            </a:r>
          </a:p>
        </p:txBody>
      </p:sp>
      <p:sp>
        <p:nvSpPr>
          <p:cNvPr id="55" name="step4:text-218">
            <a:extLst>
              <a:ext uri="{FF2B5EF4-FFF2-40B4-BE49-F238E27FC236}">
                <ns2:creationId id="{80BFC349-4DDD-4231-BFB3-481DA29952BD}"/>
              </a:ext>
            </a:extLst>
          </p:cNvPr>
          <p:cNvSpPr>
            <a:spLocks noGrp="1"/>
          </p:cNvSpPr>
          <p:nvPr/>
        </p:nvSpPr>
        <p:spPr>
          <a:xfrm>
            <a:off x="10106025" y="67913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实践证据 ↓    ↑ 评价依据</a:t>
            </a:r>
          </a:p>
        </p:txBody>
      </p:sp>
      <p:sp>
        <p:nvSpPr>
          <p:cNvPr id="56" name="step4:panel-219">
            <a:extLst>
              <a:ext uri="{FF2B5EF4-FFF2-40B4-BE49-F238E27FC236}">
                <ns2:creationId id="{DC04FEE6-02F0-4367-8EC5-3DAE838A84B6}"/>
              </a:ext>
            </a:extLst>
          </p:cNvPr>
          <p:cNvSpPr>
            <a:spLocks noGrp="1"/>
          </p:cNvSpPr>
          <p:nvPr/>
        </p:nvSpPr>
        <p:spPr>
          <a:xfrm>
            <a:off x="685800" y="7172325"/>
            <a:ext cx="13868400" cy="723900"/>
          </a:xfrm>
          <a:prstGeom prst="roundRect">
            <a:avLst>
              <a:gd name="adj" fmla="val 7895"/>
            </a:avLst>
          </a:prstGeom>
          <a:solidFill>
            <a:srgbClr val="1C4034"/>
          </a:solidFill>
          <a:ln w="9525">
            <a:solidFill>
              <a:srgbClr val="53755B"/>
            </a:solidFill>
            <a:prstDash val="solid"/>
          </a:ln>
        </p:spPr>
      </p:sp>
      <p:sp>
        <p:nvSpPr>
          <p:cNvPr id="57" name="step4:text-220">
            <a:extLst>
              <a:ext uri="{FF2B5EF4-FFF2-40B4-BE49-F238E27FC236}">
                <ns2:creationId id="{6EA4E648-06A1-4431-8274-56D72570F2FD}"/>
              </a:ext>
            </a:extLst>
          </p:cNvPr>
          <p:cNvSpPr>
            <a:spLocks noGrp="1"/>
          </p:cNvSpPr>
          <p:nvPr/>
        </p:nvSpPr>
        <p:spPr>
          <a:xfrm>
            <a:off x="962025" y="7277100"/>
            <a:ext cx="1981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共同内核</a:t>
            </a:r>
          </a:p>
        </p:txBody>
      </p:sp>
      <p:sp>
        <p:nvSpPr>
          <p:cNvPr id="58" name="step4:text-221">
            <a:extLst>
              <a:ext uri="{FF2B5EF4-FFF2-40B4-BE49-F238E27FC236}">
                <ns2:creationId id="{761FCC41-BC2E-400B-A5A8-5444A5FAFA9E}"/>
              </a:ext>
            </a:extLst>
          </p:cNvPr>
          <p:cNvSpPr>
            <a:spLocks noGrp="1"/>
          </p:cNvSpPr>
          <p:nvPr/>
        </p:nvSpPr>
        <p:spPr>
          <a:xfrm>
            <a:off x="2971800" y="7239000"/>
            <a:ext cx="4762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5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数据与评价</a:t>
            </a:r>
          </a:p>
        </p:txBody>
      </p:sp>
      <p:sp>
        <p:nvSpPr>
          <p:cNvPr id="59" name="step4:text-222">
            <a:extLst>
              <a:ext uri="{FF2B5EF4-FFF2-40B4-BE49-F238E27FC236}">
                <ns2:creationId id="{8CDB88E2-8E78-4DF2-BC4A-4411468AA4D1}"/>
              </a:ext>
            </a:extLst>
          </p:cNvPr>
          <p:cNvSpPr>
            <a:spLocks noGrp="1"/>
          </p:cNvSpPr>
          <p:nvPr/>
        </p:nvSpPr>
        <p:spPr>
          <a:xfrm>
            <a:off x="8534400" y="7277100"/>
            <a:ext cx="552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识别贡献    匹配资源    核验效果</a:t>
            </a:r>
          </a:p>
        </p:txBody>
      </p:sp>
    </p:spTree>
    <p:extLst>
      <p:ext uri="{BB962C8B-B14F-4D97-AF65-F5344CB8AC3E}">
        <ns4:creationId val="1560395530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5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8" name="panel-223">
            <a:extLst>
              <a:ext uri="{FF2B5EF4-FFF2-40B4-BE49-F238E27FC236}">
                <ns2:creationId id="{16D34A52-124F-471A-A777-7E5AD9BD13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97794BA5-9AA9-4453-84D2-6FE4E7A21448}"/>
              </a:ext>
            </a:extLst>
          </p:cNvPr>
          <p:cNvPicPr>
            <a:picLocks noChangeAspect="1"/>
          </p:cNvPicPr>
          <p:nvPr/>
        </p:nvPicPr>
        <p:blipFill>
          <a:blip r:embed="R0804e5e7df0e4b57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224">
            <a:extLst>
              <a:ext uri="{FF2B5EF4-FFF2-40B4-BE49-F238E27FC236}">
                <ns2:creationId id="{266EDD43-5680-4528-858C-5515ABC8E934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225">
            <a:extLst>
              <a:ext uri="{FF2B5EF4-FFF2-40B4-BE49-F238E27FC236}">
                <ns2:creationId id="{267DC14E-5CB0-4A2D-828A-A7F0839018D2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08 / 10</a:t>
            </a:r>
          </a:p>
        </p:txBody>
      </p:sp>
      <p:sp>
        <p:nvSpPr>
          <p:cNvPr id="5" name="text-226">
            <a:extLst>
              <a:ext uri="{FF2B5EF4-FFF2-40B4-BE49-F238E27FC236}">
                <ns2:creationId id="{C75866B8-B5FD-4CA7-B2E0-F04CFE00953D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实践基础</a:t>
            </a:r>
          </a:p>
        </p:txBody>
      </p:sp>
      <p:sp>
        <p:nvSpPr>
          <p:cNvPr id="6" name="text-227">
            <a:extLst>
              <a:ext uri="{FF2B5EF4-FFF2-40B4-BE49-F238E27FC236}">
                <ns2:creationId id="{0EA5B3BE-05BC-4043-A55C-5EDDA6DB99D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从已有实践出发，</a:t>
            </a:r>
            <a:r>
              <a:rPr sz="360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把承诺落到行动</a:t>
            </a:r>
          </a:p>
        </p:txBody>
      </p:sp>
      <p:sp>
        <p:nvSpPr>
          <p:cNvPr id="7" name="text-228">
            <a:extLst>
              <a:ext uri="{FF2B5EF4-FFF2-40B4-BE49-F238E27FC236}">
                <ns2:creationId id="{E6F1B9F7-2465-411A-8A32-70A7A87849CD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用公开的数据、方法与社区连接愿景，持续记录进展与局限。</a:t>
            </a:r>
          </a:p>
        </p:txBody>
      </p:sp>
      <p:sp>
        <p:nvSpPr>
          <p:cNvPr id="8" name="line-229">
            <a:extLst>
              <a:ext uri="{FF2B5EF4-FFF2-40B4-BE49-F238E27FC236}">
                <ns2:creationId id="{FEE6E54C-5108-4163-8751-B9A08DBA4CE0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D6DFD3"/>
            </a:solidFill>
            <a:prstDash val="solid"/>
          </a:ln>
        </p:spPr>
      </p:sp>
      <p:sp>
        <p:nvSpPr>
          <p:cNvPr id="9" name="text-230">
            <a:extLst>
              <a:ext uri="{FF2B5EF4-FFF2-40B4-BE49-F238E27FC236}">
                <ns2:creationId id="{8F9FF29B-9E40-4761-BDFA-F64C0562EB70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231">
            <a:extLst>
              <a:ext uri="{FF2B5EF4-FFF2-40B4-BE49-F238E27FC236}">
                <ns2:creationId id="{36815927-DDF0-4F6C-A9FF-D3C02851B069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step1:panel-232">
            <a:extLst>
              <a:ext uri="{FF2B5EF4-FFF2-40B4-BE49-F238E27FC236}">
                <ns2:creationId id="{97D98E40-15BF-47BA-9F1F-88734CFF4A23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4419600" cy="3571875"/>
          </a:xfrm>
          <a:prstGeom prst="roundRect">
            <a:avLst>
              <a:gd name="adj" fmla="val 1600"/>
            </a:avLst>
          </a:prstGeom>
          <a:solidFill>
            <a:srgbClr val="EAF0E5"/>
          </a:solidFill>
          <a:ln w="0">
            <a:noFill/>
            <a:prstDash val="solid"/>
          </a:ln>
        </p:spPr>
      </p:sp>
      <p:sp>
        <p:nvSpPr>
          <p:cNvPr id="12" name="step1:line-233">
            <a:extLst>
              <a:ext uri="{FF2B5EF4-FFF2-40B4-BE49-F238E27FC236}">
                <ns2:creationId id="{CB2C47CB-D08C-4D4A-9B17-1DDE3106FE6F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4419600" cy="0"/>
          </a:xfrm>
          <a:prstGeom prst="line">
            <a:avLst/>
          </a:prstGeom>
          <a:noFill/>
          <a:ln w="19050">
            <a:solidFill>
              <a:srgbClr val="689578"/>
            </a:solidFill>
            <a:prstDash val="solid"/>
          </a:ln>
        </p:spPr>
      </p:sp>
      <p:pic>
        <p:nvPicPr>
          <p:cNvPr id="13" name="">
            <a:extLst>
              <a:ext uri="{FF2B5EF4-FFF2-40B4-BE49-F238E27FC236}">
                <ns2:creationId id="{787ADF29-E2AB-4605-8CDE-75CC501888FB}"/>
              </a:ext>
            </a:extLst>
          </p:cNvPr>
          <p:cNvPicPr>
            <a:picLocks noChangeAspect="1"/>
          </p:cNvPicPr>
          <p:nvPr/>
        </p:nvPicPr>
        <p:blipFill>
          <a:blip r:embed="Refa1c9220c764742"/>
          <a:stretch/>
        </p:blipFill>
        <p:spPr>
          <a:xfrm>
            <a:off x="952500" y="3248025"/>
            <a:ext cx="504825" cy="504825"/>
          </a:xfrm>
          <a:prstGeom prst="rect">
            <a:avLst/>
          </a:prstGeom>
        </p:spPr>
      </p:pic>
      <p:sp>
        <p:nvSpPr>
          <p:cNvPr id="14" name="step1:text-234">
            <a:extLst>
              <a:ext uri="{FF2B5EF4-FFF2-40B4-BE49-F238E27FC236}">
                <ns2:creationId id="{787A0367-A380-4181-BB70-29DD32A111E1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3924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DATA / 数据</a:t>
            </a:r>
          </a:p>
        </p:txBody>
      </p:sp>
      <p:sp>
        <p:nvSpPr>
          <p:cNvPr id="15" name="step1:text-235">
            <a:extLst>
              <a:ext uri="{FF2B5EF4-FFF2-40B4-BE49-F238E27FC236}">
                <ns2:creationId id="{46644D8F-3985-4131-BE5C-2B72F7519B8C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OpenDigger</a:t>
            </a:r>
          </a:p>
        </p:txBody>
      </p:sp>
      <p:sp>
        <p:nvSpPr>
          <p:cNvPr id="16" name="step1:text-236">
            <a:extLst>
              <a:ext uri="{FF2B5EF4-FFF2-40B4-BE49-F238E27FC236}">
                <ns2:creationId id="{ACC9B856-4354-4744-BC57-81173B6CEB1C}"/>
              </a:ext>
            </a:extLst>
          </p:cNvPr>
          <p:cNvSpPr>
            <a:spLocks noGrp="1"/>
          </p:cNvSpPr>
          <p:nvPr/>
        </p:nvSpPr>
        <p:spPr>
          <a:xfrm>
            <a:off x="952500" y="5000625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开源数据与指标</a:t>
            </a:r>
          </a:p>
        </p:txBody>
      </p:sp>
      <p:sp>
        <p:nvSpPr>
          <p:cNvPr id="17" name="step1:text-237">
            <a:extLst>
              <a:ext uri="{FF2B5EF4-FFF2-40B4-BE49-F238E27FC236}">
                <ns2:creationId id="{707E12DD-FBBF-48DE-93F2-A8D696F4BB17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为理解开发者协作、项目与社区，</a:t>
            </a:r>
          </a:p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提供数据基础。</a:t>
            </a:r>
          </a:p>
        </p:txBody>
      </p:sp>
      <p:sp>
        <p:nvSpPr>
          <p:cNvPr id="18" name="step1:text-238">
            <a:extLst>
              <a:ext uri="{FF2B5EF4-FFF2-40B4-BE49-F238E27FC236}">
                <ns2:creationId id="{7672C38C-88A1-4551-88B6-43922218D9DB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  <a:hlinkClick r:id="Rce5cbd44a1854b3b"/>
              </a:rPr>
              <a:t>查看公开项目 ↗</a:t>
            </a:r>
          </a:p>
        </p:txBody>
      </p:sp>
      <p:sp>
        <p:nvSpPr>
          <p:cNvPr id="19" name="step2:panel-239">
            <a:extLst>
              <a:ext uri="{FF2B5EF4-FFF2-40B4-BE49-F238E27FC236}">
                <ns2:creationId id="{DB99BDB1-A8F0-4F46-9953-1AAB040DBEFD}"/>
              </a:ext>
            </a:extLst>
          </p:cNvPr>
          <p:cNvSpPr>
            <a:spLocks noGrp="1"/>
          </p:cNvSpPr>
          <p:nvPr/>
        </p:nvSpPr>
        <p:spPr>
          <a:xfrm>
            <a:off x="5410200" y="2981325"/>
            <a:ext cx="4419600" cy="3571875"/>
          </a:xfrm>
          <a:prstGeom prst="roundRect">
            <a:avLst>
              <a:gd name="adj" fmla="val 1600"/>
            </a:avLst>
          </a:prstGeom>
          <a:solidFill>
            <a:srgbClr val="EAF0E5"/>
          </a:solidFill>
          <a:ln w="0">
            <a:noFill/>
            <a:prstDash val="solid"/>
          </a:ln>
        </p:spPr>
      </p:sp>
      <p:sp>
        <p:nvSpPr>
          <p:cNvPr id="20" name="step2:line-240">
            <a:extLst>
              <a:ext uri="{FF2B5EF4-FFF2-40B4-BE49-F238E27FC236}">
                <ns2:creationId id="{C283EAA3-2621-433B-B867-24CE355859EC}"/>
              </a:ext>
            </a:extLst>
          </p:cNvPr>
          <p:cNvSpPr>
            <a:spLocks noGrp="1"/>
          </p:cNvSpPr>
          <p:nvPr/>
        </p:nvSpPr>
        <p:spPr>
          <a:xfrm>
            <a:off x="5410200" y="2981325"/>
            <a:ext cx="4419600" cy="0"/>
          </a:xfrm>
          <a:prstGeom prst="line">
            <a:avLst/>
          </a:prstGeom>
          <a:noFill/>
          <a:ln w="19050">
            <a:solidFill>
              <a:srgbClr val="689578"/>
            </a:solidFill>
            <a:prstDash val="solid"/>
          </a:ln>
        </p:spPr>
      </p:sp>
      <p:pic>
        <p:nvPicPr>
          <p:cNvPr id="21" name="">
            <a:extLst>
              <a:ext uri="{FF2B5EF4-FFF2-40B4-BE49-F238E27FC236}">
                <ns2:creationId id="{A66292EF-E2DD-45BD-B161-029263605B61}"/>
              </a:ext>
            </a:extLst>
          </p:cNvPr>
          <p:cNvPicPr>
            <a:picLocks noChangeAspect="1"/>
          </p:cNvPicPr>
          <p:nvPr/>
        </p:nvPicPr>
        <p:blipFill>
          <a:blip r:embed="R561f8bea1b1149e0"/>
          <a:stretch/>
        </p:blipFill>
        <p:spPr>
          <a:xfrm>
            <a:off x="5676900" y="3248025"/>
            <a:ext cx="504825" cy="504825"/>
          </a:xfrm>
          <a:prstGeom prst="rect">
            <a:avLst/>
          </a:prstGeom>
        </p:spPr>
      </p:pic>
      <p:sp>
        <p:nvSpPr>
          <p:cNvPr id="22" name="step2:text-241">
            <a:extLst>
              <a:ext uri="{FF2B5EF4-FFF2-40B4-BE49-F238E27FC236}">
                <ns2:creationId id="{7E782D8C-CDDD-4500-932C-075929FA3E85}"/>
              </a:ext>
            </a:extLst>
          </p:cNvPr>
          <p:cNvSpPr>
            <a:spLocks noGrp="1"/>
          </p:cNvSpPr>
          <p:nvPr/>
        </p:nvSpPr>
        <p:spPr>
          <a:xfrm>
            <a:off x="5676900" y="3933825"/>
            <a:ext cx="3924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METHOD / 方法</a:t>
            </a:r>
          </a:p>
        </p:txBody>
      </p:sp>
      <p:sp>
        <p:nvSpPr>
          <p:cNvPr id="23" name="step2:text-242">
            <a:extLst>
              <a:ext uri="{FF2B5EF4-FFF2-40B4-BE49-F238E27FC236}">
                <ns2:creationId id="{D68A213D-62B4-4940-A9B6-7B5114FC5C6C}"/>
              </a:ext>
            </a:extLst>
          </p:cNvPr>
          <p:cNvSpPr>
            <a:spLocks noGrp="1"/>
          </p:cNvSpPr>
          <p:nvPr/>
        </p:nvSpPr>
        <p:spPr>
          <a:xfrm>
            <a:off x="5676900" y="43243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OpenRank</a:t>
            </a:r>
          </a:p>
        </p:txBody>
      </p:sp>
      <p:sp>
        <p:nvSpPr>
          <p:cNvPr id="24" name="step2:text-243">
            <a:extLst>
              <a:ext uri="{FF2B5EF4-FFF2-40B4-BE49-F238E27FC236}">
                <ns2:creationId id="{E780511F-E22E-4BF1-83B0-DBEEE3A6B322}"/>
              </a:ext>
            </a:extLst>
          </p:cNvPr>
          <p:cNvSpPr>
            <a:spLocks noGrp="1"/>
          </p:cNvSpPr>
          <p:nvPr/>
        </p:nvSpPr>
        <p:spPr>
          <a:xfrm>
            <a:off x="5676900" y="5000625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协作网络评价</a:t>
            </a:r>
          </a:p>
        </p:txBody>
      </p:sp>
      <p:sp>
        <p:nvSpPr>
          <p:cNvPr id="25" name="step2:text-244">
            <a:extLst>
              <a:ext uri="{FF2B5EF4-FFF2-40B4-BE49-F238E27FC236}">
                <ns2:creationId id="{E7D98C88-A4D6-40A0-B8E5-A5B935720752}"/>
              </a:ext>
            </a:extLst>
          </p:cNvPr>
          <p:cNvSpPr>
            <a:spLocks noGrp="1"/>
          </p:cNvSpPr>
          <p:nvPr/>
        </p:nvSpPr>
        <p:spPr>
          <a:xfrm>
            <a:off x="5676900" y="552450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从协作网络理解贡献与影响力，</a:t>
            </a:r>
          </a:p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结合多种证据解释价值。</a:t>
            </a:r>
          </a:p>
        </p:txBody>
      </p:sp>
      <p:sp>
        <p:nvSpPr>
          <p:cNvPr id="26" name="step2:text-245">
            <a:extLst>
              <a:ext uri="{FF2B5EF4-FFF2-40B4-BE49-F238E27FC236}">
                <ns2:creationId id="{FBD69BE3-6173-4C34-A952-24E67E1E51D8}"/>
              </a:ext>
            </a:extLst>
          </p:cNvPr>
          <p:cNvSpPr>
            <a:spLocks noGrp="1"/>
          </p:cNvSpPr>
          <p:nvPr/>
        </p:nvSpPr>
        <p:spPr>
          <a:xfrm>
            <a:off x="5676900" y="61722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  <a:hlinkClick r:id="R2ed9a163dcb640c9"/>
              </a:rPr>
              <a:t>了解评价方法 ↗</a:t>
            </a:r>
          </a:p>
        </p:txBody>
      </p:sp>
      <p:sp>
        <p:nvSpPr>
          <p:cNvPr id="27" name="step3:panel-246">
            <a:extLst>
              <a:ext uri="{FF2B5EF4-FFF2-40B4-BE49-F238E27FC236}">
                <ns2:creationId id="{30FFEA5B-4673-4730-8EE6-B28BF46B4AC8}"/>
              </a:ext>
            </a:extLst>
          </p:cNvPr>
          <p:cNvSpPr>
            <a:spLocks noGrp="1"/>
          </p:cNvSpPr>
          <p:nvPr/>
        </p:nvSpPr>
        <p:spPr>
          <a:xfrm>
            <a:off x="10134600" y="2981325"/>
            <a:ext cx="4419600" cy="3571875"/>
          </a:xfrm>
          <a:prstGeom prst="roundRect">
            <a:avLst>
              <a:gd name="adj" fmla="val 1600"/>
            </a:avLst>
          </a:prstGeom>
          <a:solidFill>
            <a:srgbClr val="EAF0E5"/>
          </a:solidFill>
          <a:ln w="0">
            <a:noFill/>
            <a:prstDash val="solid"/>
          </a:ln>
        </p:spPr>
      </p:sp>
      <p:sp>
        <p:nvSpPr>
          <p:cNvPr id="28" name="step3:line-247">
            <a:extLst>
              <a:ext uri="{FF2B5EF4-FFF2-40B4-BE49-F238E27FC236}">
                <ns2:creationId id="{16F25003-D2A5-4D40-AF89-1142880FD042}"/>
              </a:ext>
            </a:extLst>
          </p:cNvPr>
          <p:cNvSpPr>
            <a:spLocks noGrp="1"/>
          </p:cNvSpPr>
          <p:nvPr/>
        </p:nvSpPr>
        <p:spPr>
          <a:xfrm>
            <a:off x="10134600" y="2981325"/>
            <a:ext cx="4419600" cy="0"/>
          </a:xfrm>
          <a:prstGeom prst="line">
            <a:avLst/>
          </a:prstGeom>
          <a:noFill/>
          <a:ln w="19050">
            <a:solidFill>
              <a:srgbClr val="689578"/>
            </a:solidFill>
            <a:prstDash val="solid"/>
          </a:ln>
        </p:spPr>
      </p:sp>
      <p:pic>
        <p:nvPicPr>
          <p:cNvPr id="29" name="">
            <a:extLst>
              <a:ext uri="{FF2B5EF4-FFF2-40B4-BE49-F238E27FC236}">
                <ns2:creationId id="{6F6B2426-2D25-4998-AD4F-A7920FCBE496}"/>
              </a:ext>
            </a:extLst>
          </p:cNvPr>
          <p:cNvPicPr>
            <a:picLocks noChangeAspect="1"/>
          </p:cNvPicPr>
          <p:nvPr/>
        </p:nvPicPr>
        <p:blipFill>
          <a:blip r:embed="R0622fc18cdd643db"/>
          <a:stretch/>
        </p:blipFill>
        <p:spPr>
          <a:xfrm>
            <a:off x="10401300" y="3248025"/>
            <a:ext cx="504825" cy="504825"/>
          </a:xfrm>
          <a:prstGeom prst="rect">
            <a:avLst/>
          </a:prstGeom>
        </p:spPr>
      </p:pic>
      <p:sp>
        <p:nvSpPr>
          <p:cNvPr id="30" name="step3:text-248">
            <a:extLst>
              <a:ext uri="{FF2B5EF4-FFF2-40B4-BE49-F238E27FC236}">
                <ns2:creationId id="{770EBF79-151C-40D4-BDD9-83E8511DBFF1}"/>
              </a:ext>
            </a:extLst>
          </p:cNvPr>
          <p:cNvSpPr>
            <a:spLocks noGrp="1"/>
          </p:cNvSpPr>
          <p:nvPr/>
        </p:nvSpPr>
        <p:spPr>
          <a:xfrm>
            <a:off x="10401300" y="3933825"/>
            <a:ext cx="3924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ECOSYSTEM / 生态</a:t>
            </a:r>
          </a:p>
        </p:txBody>
      </p:sp>
      <p:sp>
        <p:nvSpPr>
          <p:cNvPr id="31" name="step3:text-249">
            <a:extLst>
              <a:ext uri="{FF2B5EF4-FFF2-40B4-BE49-F238E27FC236}">
                <ns2:creationId id="{AE0E054E-B1D2-4A34-8738-6F8025075C72}"/>
              </a:ext>
            </a:extLst>
          </p:cNvPr>
          <p:cNvSpPr>
            <a:spLocks noGrp="1"/>
          </p:cNvSpPr>
          <p:nvPr/>
        </p:nvSpPr>
        <p:spPr>
          <a:xfrm>
            <a:off x="10401300" y="43243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OpenShare</a:t>
            </a:r>
          </a:p>
        </p:txBody>
      </p:sp>
      <p:sp>
        <p:nvSpPr>
          <p:cNvPr id="32" name="step3:text-250">
            <a:extLst>
              <a:ext uri="{FF2B5EF4-FFF2-40B4-BE49-F238E27FC236}">
                <ns2:creationId id="{88C8F1FA-A6AE-4A3E-994F-4B5BF9188732}"/>
              </a:ext>
            </a:extLst>
          </p:cNvPr>
          <p:cNvSpPr>
            <a:spLocks noGrp="1"/>
          </p:cNvSpPr>
          <p:nvPr/>
        </p:nvSpPr>
        <p:spPr>
          <a:xfrm>
            <a:off x="10401300" y="5000625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rPr>
              <a:t>能力与资源连接</a:t>
            </a:r>
          </a:p>
        </p:txBody>
      </p:sp>
      <p:sp>
        <p:nvSpPr>
          <p:cNvPr id="33" name="step3:text-251">
            <a:extLst>
              <a:ext uri="{FF2B5EF4-FFF2-40B4-BE49-F238E27FC236}">
                <ns2:creationId id="{6CFECD84-86A4-4C5C-83D8-97837A9F8A86}"/>
              </a:ext>
            </a:extLst>
          </p:cNvPr>
          <p:cNvSpPr>
            <a:spLocks noGrp="1"/>
          </p:cNvSpPr>
          <p:nvPr/>
        </p:nvSpPr>
        <p:spPr>
          <a:xfrm>
            <a:off x="10401300" y="5524500"/>
            <a:ext cx="39814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探索贡献、开发者能力、组织需求</a:t>
            </a:r>
          </a:p>
          <a:p>
            <a:pPr algn="l">
              <a:def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与资源之间的连接。</a:t>
            </a:r>
          </a:p>
        </p:txBody>
      </p:sp>
      <p:sp>
        <p:nvSpPr>
          <p:cNvPr id="34" name="step3:text-252">
            <a:extLst>
              <a:ext uri="{FF2B5EF4-FFF2-40B4-BE49-F238E27FC236}">
                <ns2:creationId id="{DD047A9A-E2F9-4ABC-96E1-59D92191BFD4}"/>
              </a:ext>
            </a:extLst>
          </p:cNvPr>
          <p:cNvSpPr>
            <a:spLocks noGrp="1"/>
          </p:cNvSpPr>
          <p:nvPr/>
        </p:nvSpPr>
        <p:spPr>
          <a:xfrm>
            <a:off x="10401300" y="61722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  <a:hlinkClick r:id="Rad7dcc3b1e4d4ddf"/>
              </a:rPr>
              <a:t>访问实践平台 ↗</a:t>
            </a:r>
          </a:p>
        </p:txBody>
      </p:sp>
      <p:sp>
        <p:nvSpPr>
          <p:cNvPr id="35" name="step4:text-253">
            <a:extLst>
              <a:ext uri="{FF2B5EF4-FFF2-40B4-BE49-F238E27FC236}">
                <ns2:creationId id="{2029AC17-E723-4E38-BC73-F66AA84C6BD6}"/>
              </a:ext>
            </a:extLst>
          </p:cNvPr>
          <p:cNvSpPr>
            <a:spLocks noGrp="1"/>
          </p:cNvSpPr>
          <p:nvPr/>
        </p:nvSpPr>
        <p:spPr>
          <a:xfrm>
            <a:off x="714375" y="6791325"/>
            <a:ext cx="633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77C65"/>
                </a:solidFill>
                <a:latin typeface="Source Han Sans SC"/>
                <a:ea typeface="Source Han Sans SC"/>
                <a:cs typeface="Source Han Sans SC"/>
              </a:rPr>
              <a:t>当前行动：宣言公开共建</a:t>
            </a:r>
          </a:p>
        </p:txBody>
      </p:sp>
      <p:sp>
        <p:nvSpPr>
          <p:cNvPr id="36" name="step4:text-254">
            <a:extLst>
              <a:ext uri="{FF2B5EF4-FFF2-40B4-BE49-F238E27FC236}">
                <ns2:creationId id="{A430D131-7A82-4B25-B33E-8EBA28085181}"/>
              </a:ext>
            </a:extLst>
          </p:cNvPr>
          <p:cNvSpPr>
            <a:spLocks noGrp="1"/>
          </p:cNvSpPr>
          <p:nvPr/>
        </p:nvSpPr>
        <p:spPr>
          <a:xfrm>
            <a:off x="714375" y="7286625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公开正文、图解、演示与反馈入口，让实践检验承诺。</a:t>
            </a:r>
          </a:p>
        </p:txBody>
      </p:sp>
      <p:sp>
        <p:nvSpPr>
          <p:cNvPr id="37" name="text-255">
            <a:extLst>
              <a:ext uri="{FF2B5EF4-FFF2-40B4-BE49-F238E27FC236}">
                <ns2:creationId id="{7E67BFEB-1B3E-4D83-9506-869A54FEAAF6}"/>
              </a:ext>
            </a:extLst>
          </p:cNvPr>
          <p:cNvSpPr>
            <a:spLocks noGrp="1"/>
          </p:cNvSpPr>
          <p:nvPr/>
        </p:nvSpPr>
        <p:spPr>
          <a:xfrm>
            <a:off x="714375" y="7734300"/>
            <a:ext cx="1381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68176"/>
                </a:solidFill>
                <a:latin typeface="Source Han Sans SC"/>
                <a:ea typeface="Source Han Sans SC"/>
                <a:cs typeface="Source Han Sans SC"/>
              </a:rPr>
              <a:t>以上为实践基础，不等同于本行动已经实现的普惠成效。</a:t>
            </a:r>
          </a:p>
        </p:txBody>
      </p:sp>
    </p:spTree>
    <p:extLst>
      <p:ext uri="{BB962C8B-B14F-4D97-AF65-F5344CB8AC3E}">
        <ns4:creationId val="1253271911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C2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panel-256">
            <a:extLst>
              <a:ext uri="{FF2B5EF4-FFF2-40B4-BE49-F238E27FC236}">
                <ns2:creationId id="{9B29D8EF-7AC5-4CB0-810B-29A20EBB86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9C37EA1F-1840-4E9A-A780-99131EDE3ED0}"/>
              </a:ext>
            </a:extLst>
          </p:cNvPr>
          <p:cNvPicPr>
            <a:picLocks noChangeAspect="1"/>
          </p:cNvPicPr>
          <p:nvPr/>
        </p:nvPicPr>
        <p:blipFill>
          <a:blip r:embed="R1b1333d818494eca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257">
            <a:extLst>
              <a:ext uri="{FF2B5EF4-FFF2-40B4-BE49-F238E27FC236}">
                <ns2:creationId id="{5E476642-E094-4D22-A65E-44251D8A5E1F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258">
            <a:extLst>
              <a:ext uri="{FF2B5EF4-FFF2-40B4-BE49-F238E27FC236}">
                <ns2:creationId id="{35E2B8E3-6837-456F-8B4A-EA732BEF8844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09 / 10</a:t>
            </a:r>
          </a:p>
        </p:txBody>
      </p:sp>
      <p:sp>
        <p:nvSpPr>
          <p:cNvPr id="5" name="text-259">
            <a:extLst>
              <a:ext uri="{FF2B5EF4-FFF2-40B4-BE49-F238E27FC236}">
                <ns2:creationId id="{91D7F095-3BEB-4649-AF48-F129A2E7CF00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参与共建</a:t>
            </a:r>
          </a:p>
        </p:txBody>
      </p:sp>
      <p:sp>
        <p:nvSpPr>
          <p:cNvPr id="6" name="text-260">
            <a:extLst>
              <a:ext uri="{FF2B5EF4-FFF2-40B4-BE49-F238E27FC236}">
                <ns2:creationId id="{F8458764-A67F-4FD0-A8CF-40744AD219A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每一个真实问题，</a:t>
            </a:r>
            <a:r>
              <a:rPr sz="360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都可以成为开始</a:t>
            </a:r>
          </a:p>
        </p:txBody>
      </p:sp>
      <p:sp>
        <p:nvSpPr>
          <p:cNvPr id="7" name="text-261">
            <a:extLst>
              <a:ext uri="{FF2B5EF4-FFF2-40B4-BE49-F238E27FC236}">
                <ns2:creationId id="{7D033B70-CCC3-4DB9-9388-F5BD13B01293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开发者、社区与合作伙伴，共同建设可共享的成果。</a:t>
            </a:r>
          </a:p>
        </p:txBody>
      </p:sp>
      <p:sp>
        <p:nvSpPr>
          <p:cNvPr id="8" name="line-262">
            <a:extLst>
              <a:ext uri="{FF2B5EF4-FFF2-40B4-BE49-F238E27FC236}">
                <ns2:creationId id="{9A2F7BCD-450E-428A-87CA-EDF0A2C8127F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9" name="text-263">
            <a:extLst>
              <a:ext uri="{FF2B5EF4-FFF2-40B4-BE49-F238E27FC236}">
                <ns2:creationId id="{7B8840C2-B4BA-4DC2-BEBE-28636D65AF60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264">
            <a:extLst>
              <a:ext uri="{FF2B5EF4-FFF2-40B4-BE49-F238E27FC236}">
                <ns2:creationId id="{F073D2DE-7B16-48CA-9F1E-A9796DECCF70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pic>
        <p:nvPicPr>
          <p:cNvPr id="11" name="">
            <a:extLst>
              <a:ext uri="{FF2B5EF4-FFF2-40B4-BE49-F238E27FC236}">
                <ns2:creationId id="{56F07890-9145-4693-B1A9-22214BDAFB62}"/>
              </a:ext>
            </a:extLst>
          </p:cNvPr>
          <p:cNvPicPr>
            <a:picLocks noChangeAspect="1"/>
          </p:cNvPicPr>
          <p:nvPr/>
        </p:nvPicPr>
        <p:blipFill>
          <a:blip r:embed="R0939fb492ab94ec8"/>
          <a:stretch/>
        </p:blipFill>
        <p:spPr>
          <a:xfrm>
            <a:off x="781050" y="3171825"/>
            <a:ext cx="571500" cy="571500"/>
          </a:xfrm>
          <a:prstGeom prst="rect">
            <a:avLst/>
          </a:prstGeom>
        </p:spPr>
      </p:pic>
      <p:sp>
        <p:nvSpPr>
          <p:cNvPr id="12" name="step1:text-265">
            <a:extLst>
              <a:ext uri="{FF2B5EF4-FFF2-40B4-BE49-F238E27FC236}">
                <ns2:creationId id="{BD132336-320C-4E0A-A8D7-45267156E7CC}"/>
              </a:ext>
            </a:extLst>
          </p:cNvPr>
          <p:cNvSpPr>
            <a:spLocks noGrp="1"/>
          </p:cNvSpPr>
          <p:nvPr/>
        </p:nvSpPr>
        <p:spPr>
          <a:xfrm>
            <a:off x="704850" y="4048125"/>
            <a:ext cx="433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开发者</a:t>
            </a:r>
          </a:p>
        </p:txBody>
      </p:sp>
      <p:sp>
        <p:nvSpPr>
          <p:cNvPr id="13" name="step1:text-266">
            <a:extLst>
              <a:ext uri="{FF2B5EF4-FFF2-40B4-BE49-F238E27FC236}">
                <ns2:creationId id="{4CE4F512-F61F-4C44-98D2-BC94D3996B64}"/>
              </a:ext>
            </a:extLst>
          </p:cNvPr>
          <p:cNvSpPr>
            <a:spLocks noGrp="1"/>
          </p:cNvSpPr>
          <p:nvPr/>
        </p:nvSpPr>
        <p:spPr>
          <a:xfrm>
            <a:off x="704850" y="4991100"/>
            <a:ext cx="43148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分享需要与使用反馈，</a:t>
            </a:r>
          </a:p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贡献工具、文档与案例。</a:t>
            </a:r>
          </a:p>
        </p:txBody>
      </p:sp>
      <p:sp>
        <p:nvSpPr>
          <p:cNvPr id="14" name="step1:text-267">
            <a:extLst>
              <a:ext uri="{FF2B5EF4-FFF2-40B4-BE49-F238E27FC236}">
                <ns2:creationId id="{4BB6C415-7A50-49C3-9BB0-67369259A957}"/>
              </a:ext>
            </a:extLst>
          </p:cNvPr>
          <p:cNvSpPr>
            <a:spLocks noGrp="1"/>
          </p:cNvSpPr>
          <p:nvPr/>
        </p:nvSpPr>
        <p:spPr>
          <a:xfrm>
            <a:off x="704850" y="61341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  <a:hlinkClick r:id="R52769eb924264dcd"/>
              </a:rPr>
              <a:t>查看贡献指南 ↗</a:t>
            </a:r>
          </a:p>
        </p:txBody>
      </p:sp>
      <p:pic>
        <p:nvPicPr>
          <p:cNvPr id="15" name="">
            <a:extLst>
              <a:ext uri="{FF2B5EF4-FFF2-40B4-BE49-F238E27FC236}">
                <ns2:creationId id="{BC110494-A7D6-4206-8370-FA7BEEB7030B}"/>
              </a:ext>
            </a:extLst>
          </p:cNvPr>
          <p:cNvPicPr>
            <a:picLocks noChangeAspect="1"/>
          </p:cNvPicPr>
          <p:nvPr/>
        </p:nvPicPr>
        <p:blipFill>
          <a:blip r:embed="R2c36cb9543ab4c6a"/>
          <a:stretch/>
        </p:blipFill>
        <p:spPr>
          <a:xfrm>
            <a:off x="5505450" y="3171825"/>
            <a:ext cx="571500" cy="571500"/>
          </a:xfrm>
          <a:prstGeom prst="rect">
            <a:avLst/>
          </a:prstGeom>
        </p:spPr>
      </p:pic>
      <p:sp>
        <p:nvSpPr>
          <p:cNvPr id="16" name="step1:text-268">
            <a:extLst>
              <a:ext uri="{FF2B5EF4-FFF2-40B4-BE49-F238E27FC236}">
                <ns2:creationId id="{136C2D4D-6BF6-4B38-8F12-9D129538929D}"/>
              </a:ext>
            </a:extLst>
          </p:cNvPr>
          <p:cNvSpPr>
            <a:spLocks noGrp="1"/>
          </p:cNvSpPr>
          <p:nvPr/>
        </p:nvSpPr>
        <p:spPr>
          <a:xfrm>
            <a:off x="5429250" y="4048125"/>
            <a:ext cx="433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开源社区</a:t>
            </a:r>
          </a:p>
        </p:txBody>
      </p:sp>
      <p:sp>
        <p:nvSpPr>
          <p:cNvPr id="17" name="step1:text-269">
            <a:extLst>
              <a:ext uri="{FF2B5EF4-FFF2-40B4-BE49-F238E27FC236}">
                <ns2:creationId id="{9753C436-01AC-4928-BD91-78972A8A9C7C}"/>
              </a:ext>
            </a:extLst>
          </p:cNvPr>
          <p:cNvSpPr>
            <a:spLocks noGrp="1"/>
          </p:cNvSpPr>
          <p:nvPr/>
        </p:nvSpPr>
        <p:spPr>
          <a:xfrm>
            <a:off x="5429250" y="4991100"/>
            <a:ext cx="43148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组织学习与协作，</a:t>
            </a:r>
          </a:p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带回采用经验和改进建议。</a:t>
            </a:r>
          </a:p>
        </p:txBody>
      </p:sp>
      <p:sp>
        <p:nvSpPr>
          <p:cNvPr id="18" name="step1:text-270">
            <a:extLst>
              <a:ext uri="{FF2B5EF4-FFF2-40B4-BE49-F238E27FC236}">
                <ns2:creationId id="{5F3C33D4-FFD1-4FE2-B159-EC55BBBDBB0A}"/>
              </a:ext>
            </a:extLst>
          </p:cNvPr>
          <p:cNvSpPr>
            <a:spLocks noGrp="1"/>
          </p:cNvSpPr>
          <p:nvPr/>
        </p:nvSpPr>
        <p:spPr>
          <a:xfrm>
            <a:off x="5429250" y="61341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  <a:hlinkClick r:id="Rd5ee4296551743fb"/>
              </a:rPr>
              <a:t>参与公开讨论 ↗</a:t>
            </a:r>
          </a:p>
        </p:txBody>
      </p:sp>
      <p:pic>
        <p:nvPicPr>
          <p:cNvPr id="19" name="">
            <a:extLst>
              <a:ext uri="{FF2B5EF4-FFF2-40B4-BE49-F238E27FC236}">
                <ns2:creationId id="{5624F41D-4FFB-4F7E-8FA4-86BBB50528E0}"/>
              </a:ext>
            </a:extLst>
          </p:cNvPr>
          <p:cNvPicPr>
            <a:picLocks noChangeAspect="1"/>
          </p:cNvPicPr>
          <p:nvPr/>
        </p:nvPicPr>
        <p:blipFill>
          <a:blip r:embed="R9af033be814b4f18"/>
          <a:stretch/>
        </p:blipFill>
        <p:spPr>
          <a:xfrm>
            <a:off x="10229850" y="3171825"/>
            <a:ext cx="571500" cy="571500"/>
          </a:xfrm>
          <a:prstGeom prst="rect">
            <a:avLst/>
          </a:prstGeom>
        </p:spPr>
      </p:pic>
      <p:sp>
        <p:nvSpPr>
          <p:cNvPr id="20" name="step1:text-271">
            <a:extLst>
              <a:ext uri="{FF2B5EF4-FFF2-40B4-BE49-F238E27FC236}">
                <ns2:creationId id="{36489397-69C0-4E16-826E-89140B6D891C}"/>
              </a:ext>
            </a:extLst>
          </p:cNvPr>
          <p:cNvSpPr>
            <a:spLocks noGrp="1"/>
          </p:cNvSpPr>
          <p:nvPr/>
        </p:nvSpPr>
        <p:spPr>
          <a:xfrm>
            <a:off x="10153650" y="4048125"/>
            <a:ext cx="433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2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合作伙伴</a:t>
            </a:r>
          </a:p>
        </p:txBody>
      </p:sp>
      <p:sp>
        <p:nvSpPr>
          <p:cNvPr id="21" name="step1:text-272">
            <a:extLst>
              <a:ext uri="{FF2B5EF4-FFF2-40B4-BE49-F238E27FC236}">
                <ns2:creationId id="{EB6282C0-2C82-45AB-A807-AC647BAB5B5F}"/>
              </a:ext>
            </a:extLst>
          </p:cNvPr>
          <p:cNvSpPr>
            <a:spLocks noGrp="1"/>
          </p:cNvSpPr>
          <p:nvPr/>
        </p:nvSpPr>
        <p:spPr>
          <a:xfrm>
            <a:off x="10153650" y="4991100"/>
            <a:ext cx="43148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提供资源与应用场景，</a:t>
            </a:r>
          </a:p>
          <a:p>
            <a:pPr algn="l">
              <a:def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共同开展可核验的实践。</a:t>
            </a:r>
          </a:p>
        </p:txBody>
      </p:sp>
      <p:sp>
        <p:nvSpPr>
          <p:cNvPr id="22" name="step1:text-273">
            <a:extLst>
              <a:ext uri="{FF2B5EF4-FFF2-40B4-BE49-F238E27FC236}">
                <ns2:creationId id="{377860D0-8165-46DC-84ED-ED5775675E6E}"/>
              </a:ext>
            </a:extLst>
          </p:cNvPr>
          <p:cNvSpPr>
            <a:spLocks noGrp="1"/>
          </p:cNvSpPr>
          <p:nvPr/>
        </p:nvSpPr>
        <p:spPr>
          <a:xfrm>
            <a:off x="10153650" y="61341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  <a:hlinkClick r:id="R06a9ba133b244eee"/>
              </a:rPr>
              <a:t>提出行动建议 ↗</a:t>
            </a:r>
          </a:p>
        </p:txBody>
      </p:sp>
      <p:sp>
        <p:nvSpPr>
          <p:cNvPr id="23" name="step2:line-274">
            <a:extLst>
              <a:ext uri="{FF2B5EF4-FFF2-40B4-BE49-F238E27FC236}">
                <ns2:creationId id="{6D05A6F1-1731-4F5B-ABB1-C4698015550A}"/>
              </a:ext>
            </a:extLst>
          </p:cNvPr>
          <p:cNvSpPr>
            <a:spLocks noGrp="1"/>
          </p:cNvSpPr>
          <p:nvPr/>
        </p:nvSpPr>
        <p:spPr>
          <a:xfrm>
            <a:off x="685800" y="68770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24" name="step2:line-275">
            <a:extLst>
              <a:ext uri="{FF2B5EF4-FFF2-40B4-BE49-F238E27FC236}">
                <ns2:creationId id="{979FBC6C-3033-462D-AC5D-6E44503752A5}"/>
              </a:ext>
            </a:extLst>
          </p:cNvPr>
          <p:cNvSpPr>
            <a:spLocks noGrp="1"/>
          </p:cNvSpPr>
          <p:nvPr/>
        </p:nvSpPr>
        <p:spPr>
          <a:xfrm>
            <a:off x="685800" y="7477125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25" name="step2:text-276">
            <a:extLst>
              <a:ext uri="{FF2B5EF4-FFF2-40B4-BE49-F238E27FC236}">
                <ns2:creationId id="{B7A93790-68C7-44F8-A376-A4BF8412452D}"/>
              </a:ext>
            </a:extLst>
          </p:cNvPr>
          <p:cNvSpPr>
            <a:spLocks noGrp="1"/>
          </p:cNvSpPr>
          <p:nvPr/>
        </p:nvSpPr>
        <p:spPr>
          <a:xfrm>
            <a:off x="704850" y="69532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开放资源</a:t>
            </a:r>
          </a:p>
        </p:txBody>
      </p:sp>
      <p:sp>
        <p:nvSpPr>
          <p:cNvPr id="26" name="step2:text-277">
            <a:extLst>
              <a:ext uri="{FF2B5EF4-FFF2-40B4-BE49-F238E27FC236}">
                <ns2:creationId id="{451A4E92-F8A0-47A8-A1A3-727E4214DF08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支持创造</a:t>
            </a:r>
          </a:p>
        </p:txBody>
      </p:sp>
      <p:sp>
        <p:nvSpPr>
          <p:cNvPr id="27" name="step2:text-278">
            <a:extLst>
              <a:ext uri="{FF2B5EF4-FFF2-40B4-BE49-F238E27FC236}">
                <ns2:creationId id="{3DF0A271-8819-4D91-9FF8-29D2482E1B88}"/>
              </a:ext>
            </a:extLst>
          </p:cNvPr>
          <p:cNvSpPr>
            <a:spLocks noGrp="1"/>
          </p:cNvSpPr>
          <p:nvPr/>
        </p:nvSpPr>
        <p:spPr>
          <a:xfrm>
            <a:off x="10153650" y="69532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公开记录</a:t>
            </a:r>
          </a:p>
        </p:txBody>
      </p:sp>
      <p:sp>
        <p:nvSpPr>
          <p:cNvPr id="28" name="text-279">
            <a:extLst>
              <a:ext uri="{FF2B5EF4-FFF2-40B4-BE49-F238E27FC236}">
                <ns2:creationId id="{60760CDC-0F13-485E-B6F3-FE5FFD6F0525}"/>
              </a:ext>
            </a:extLst>
          </p:cNvPr>
          <p:cNvSpPr>
            <a:spLocks noGrp="1"/>
          </p:cNvSpPr>
          <p:nvPr/>
        </p:nvSpPr>
        <p:spPr>
          <a:xfrm>
            <a:off x="704850" y="7715250"/>
            <a:ext cx="1381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基础参与无需既有贡献分数。具体资源与条件以每项行动的公开说明为准。</a:t>
            </a:r>
          </a:p>
        </p:txBody>
      </p:sp>
    </p:spTree>
    <p:extLst>
      <p:ext uri="{BB962C8B-B14F-4D97-AF65-F5344CB8AC3E}">
        <ns4:creationId val="662205025"/>
      </p:ext>
    </p:extLst>
  </p:cSld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C2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8" name="panel-280">
            <a:extLst>
              <a:ext uri="{FF2B5EF4-FFF2-40B4-BE49-F238E27FC236}">
                <ns2:creationId id="{25B49D8A-34AE-4840-9198-98B9D859A9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742950"/>
          </a:xfrm>
          <a:prstGeom prst="rect">
            <a:avLst/>
          </a:prstGeom>
          <a:solidFill>
            <a:srgbClr val="102C25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10769030-3878-4BFE-9FCB-063C82E38D87}"/>
              </a:ext>
            </a:extLst>
          </p:cNvPr>
          <p:cNvPicPr>
            <a:picLocks noChangeAspect="1"/>
          </p:cNvPicPr>
          <p:nvPr/>
        </p:nvPicPr>
        <p:blipFill>
          <a:blip r:embed="Re8b00c1265c24c0f"/>
          <a:stretch/>
        </p:blipFill>
        <p:spPr>
          <a:xfrm>
            <a:off x="966734" y="152400"/>
            <a:ext cx="1057383" cy="457200"/>
          </a:xfrm>
          <a:prstGeom prst="rect">
            <a:avLst/>
          </a:prstGeom>
        </p:spPr>
      </p:pic>
      <p:sp>
        <p:nvSpPr>
          <p:cNvPr id="3" name="text-281">
            <a:extLst>
              <a:ext uri="{FF2B5EF4-FFF2-40B4-BE49-F238E27FC236}">
                <ns2:creationId id="{5449ECA2-C836-4C8E-8C3F-3E766D35A1E5}"/>
              </a:ext>
            </a:extLst>
          </p:cNvPr>
          <p:cNvSpPr>
            <a:spLocks noGrp="1"/>
          </p:cNvSpPr>
          <p:nvPr/>
        </p:nvSpPr>
        <p:spPr>
          <a:xfrm>
            <a:off x="2667000" y="209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FOR ALL</a:t>
            </a:r>
          </a:p>
        </p:txBody>
      </p:sp>
      <p:sp>
        <p:nvSpPr>
          <p:cNvPr id="4" name="text-282">
            <a:extLst>
              <a:ext uri="{FF2B5EF4-FFF2-40B4-BE49-F238E27FC236}">
                <ns2:creationId id="{4E9BF5AA-C56E-4468-A940-B01635621C48}"/>
              </a:ext>
            </a:extLst>
          </p:cNvPr>
          <p:cNvSpPr>
            <a:spLocks noGrp="1"/>
          </p:cNvSpPr>
          <p:nvPr/>
        </p:nvSpPr>
        <p:spPr>
          <a:xfrm>
            <a:off x="13239750" y="2095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10 / 10</a:t>
            </a:r>
          </a:p>
        </p:txBody>
      </p:sp>
      <p:sp>
        <p:nvSpPr>
          <p:cNvPr id="5" name="text-283">
            <a:extLst>
              <a:ext uri="{FF2B5EF4-FFF2-40B4-BE49-F238E27FC236}">
                <ns2:creationId id="{30D72742-C5FF-4366-8195-83630F3768B7}"/>
              </a:ext>
            </a:extLst>
          </p:cNvPr>
          <p:cNvSpPr>
            <a:spLocks noGrp="1"/>
          </p:cNvSpPr>
          <p:nvPr/>
        </p:nvSpPr>
        <p:spPr>
          <a:xfrm>
            <a:off x="704850" y="9715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全景与邀请</a:t>
            </a:r>
          </a:p>
        </p:txBody>
      </p:sp>
      <p:sp>
        <p:nvSpPr>
          <p:cNvPr id="6" name="text-284">
            <a:extLst>
              <a:ext uri="{FF2B5EF4-FFF2-40B4-BE49-F238E27FC236}">
                <ns2:creationId id="{CC6BBB7C-8F22-4362-AFAB-DC03E528288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3868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3600" b="1">
                <a:solidFill>
                  <a:srgbClr val="193E33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60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共同把愿景，</a:t>
            </a:r>
            <a:r>
              <a:rPr sz="3600" b="1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rPr>
              <a:t>变成行动</a:t>
            </a:r>
          </a:p>
        </p:txBody>
      </p:sp>
      <p:sp>
        <p:nvSpPr>
          <p:cNvPr id="7" name="text-285">
            <a:extLst>
              <a:ext uri="{FF2B5EF4-FFF2-40B4-BE49-F238E27FC236}">
                <ns2:creationId id="{C891EB9D-4453-4B78-9CA9-C5815774E667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1381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一个完整框架，连接创造、持续投入与真实受益。</a:t>
            </a:r>
          </a:p>
        </p:txBody>
      </p:sp>
      <p:sp>
        <p:nvSpPr>
          <p:cNvPr id="8" name="line-286">
            <a:extLst>
              <a:ext uri="{FF2B5EF4-FFF2-40B4-BE49-F238E27FC236}">
                <ns2:creationId id="{9497BBB3-7425-424D-AACC-2E0E4DC1CD0B}"/>
              </a:ext>
            </a:extLst>
          </p:cNvPr>
          <p:cNvSpPr>
            <a:spLocks noGrp="1"/>
          </p:cNvSpPr>
          <p:nvPr/>
        </p:nvSpPr>
        <p:spPr>
          <a:xfrm>
            <a:off x="685800" y="8058150"/>
            <a:ext cx="13868400" cy="0"/>
          </a:xfrm>
          <a:prstGeom prst="line">
            <a:avLst/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9" name="text-287">
            <a:extLst>
              <a:ext uri="{FF2B5EF4-FFF2-40B4-BE49-F238E27FC236}">
                <ns2:creationId id="{A7411569-FFE1-40E0-BB45-5FB18FA03C55}"/>
              </a:ext>
            </a:extLst>
          </p:cNvPr>
          <p:cNvSpPr>
            <a:spLocks noGrp="1"/>
          </p:cNvSpPr>
          <p:nvPr/>
        </p:nvSpPr>
        <p:spPr>
          <a:xfrm>
            <a:off x="704850" y="81724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AI 普惠宣言</a:t>
            </a:r>
          </a:p>
        </p:txBody>
      </p:sp>
      <p:sp>
        <p:nvSpPr>
          <p:cNvPr id="10" name="text-288">
            <a:extLst>
              <a:ext uri="{FF2B5EF4-FFF2-40B4-BE49-F238E27FC236}">
                <ns2:creationId id="{95D11DC0-4AB4-4690-9A64-7776E8609FEA}"/>
              </a:ext>
            </a:extLst>
          </p:cNvPr>
          <p:cNvSpPr>
            <a:spLocks noGrp="1"/>
          </p:cNvSpPr>
          <p:nvPr/>
        </p:nvSpPr>
        <p:spPr>
          <a:xfrm>
            <a:off x="12192000" y="81724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X-lab AI</a:t>
            </a:r>
          </a:p>
        </p:txBody>
      </p:sp>
      <p:sp>
        <p:nvSpPr>
          <p:cNvPr id="11" name="panel-289">
            <a:extLst>
              <a:ext uri="{FF2B5EF4-FFF2-40B4-BE49-F238E27FC236}">
                <ns2:creationId id="{BE17229F-1551-4F8C-8FA2-BBAE5E5FDF1A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3868400" cy="666750"/>
          </a:xfrm>
          <a:prstGeom prst="roundRect">
            <a:avLst>
              <a:gd name="adj" fmla="val 8571"/>
            </a:avLst>
          </a:prstGeom>
          <a:solidFill>
            <a:srgbClr val="18362C"/>
          </a:solidFill>
          <a:ln w="14288">
            <a:solidFill>
              <a:srgbClr val="66815B"/>
            </a:solidFill>
            <a:prstDash val="solid"/>
          </a:ln>
        </p:spPr>
      </p:sp>
      <p:sp>
        <p:nvSpPr>
          <p:cNvPr id="12" name="text-290">
            <a:extLst>
              <a:ext uri="{FF2B5EF4-FFF2-40B4-BE49-F238E27FC236}">
                <ns2:creationId id="{32B32A09-0F4A-4916-8596-E7B5E6B5A6AC}"/>
              </a:ext>
            </a:extLst>
          </p:cNvPr>
          <p:cNvSpPr>
            <a:spLocks noGrp="1"/>
          </p:cNvSpPr>
          <p:nvPr/>
        </p:nvSpPr>
        <p:spPr>
          <a:xfrm>
            <a:off x="923925" y="3000375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01 / 一个目标</a:t>
            </a:r>
          </a:p>
        </p:txBody>
      </p:sp>
      <p:sp>
        <p:nvSpPr>
          <p:cNvPr id="13" name="text-291">
            <a:extLst>
              <a:ext uri="{FF2B5EF4-FFF2-40B4-BE49-F238E27FC236}">
                <ns2:creationId id="{7450E85F-D6BA-4742-BD9C-BC34DE30AC93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23336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AI 普惠</a:t>
            </a:r>
          </a:p>
        </p:txBody>
      </p:sp>
      <p:sp>
        <p:nvSpPr>
          <p:cNvPr id="14" name="text-292">
            <a:extLst>
              <a:ext uri="{FF2B5EF4-FFF2-40B4-BE49-F238E27FC236}">
                <ns2:creationId id="{E302C81F-09F0-4CFC-AB0F-F8F5C5DC1858}"/>
              </a:ext>
            </a:extLst>
          </p:cNvPr>
          <p:cNvSpPr>
            <a:spLocks noGrp="1"/>
          </p:cNvSpPr>
          <p:nvPr/>
        </p:nvSpPr>
        <p:spPr>
          <a:xfrm>
            <a:off x="6305550" y="2962275"/>
            <a:ext cx="657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D3E9AA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250" b="1">
                <a:solidFill>
                  <a:srgbClr val="D3E9A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D3E9AA"/>
                </a:solidFill>
                <a:latin typeface="Source Han Sans SC"/>
                <a:ea typeface="Source Han Sans SC"/>
                <a:cs typeface="Source Han Sans SC"/>
              </a:rPr>
              <a:t>用得起，更用得好</a:t>
            </a:r>
          </a:p>
        </p:txBody>
      </p:sp>
      <p:sp>
        <p:nvSpPr>
          <p:cNvPr id="15" name="text-293">
            <a:extLst>
              <a:ext uri="{FF2B5EF4-FFF2-40B4-BE49-F238E27FC236}">
                <ns2:creationId id="{93EF7AB7-CCBC-4EC1-9075-E4D029E482A1}"/>
              </a:ext>
            </a:extLst>
          </p:cNvPr>
          <p:cNvSpPr>
            <a:spLocks noGrp="1"/>
          </p:cNvSpPr>
          <p:nvPr/>
        </p:nvSpPr>
        <p:spPr>
          <a:xfrm>
            <a:off x="5295900" y="3629025"/>
            <a:ext cx="21621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数字公共品</a:t>
            </a:r>
          </a:p>
        </p:txBody>
      </p:sp>
      <p:cxnSp>
        <p:nvCxnSpPr>
          <p:cNvPr id="16" name="arrow-294">
            <a:extLst>
              <a:ext uri="{FF2B5EF4-FFF2-40B4-BE49-F238E27FC236}">
                <ns2:creationId id="{8B639FB7-28A9-4D3B-8658-4CFA06A6A063}"/>
              </a:ext>
            </a:extLst>
          </p:cNvPr>
          <p:cNvCxnSpPr/>
          <p:nvPr/>
        </p:nvCxnSpPr>
        <p:spPr>
          <a:xfrm>
            <a:off x="7581900" y="3810000"/>
            <a:ext cx="485775" cy="0"/>
          </a:xfrm>
          <a:prstGeom prst="straightConnector1">
            <a:avLst/>
          </a:prstGeom>
          <a:ln w="17145">
            <a:solidFill>
              <a:srgbClr val="A9C98A"/>
            </a:solidFill>
            <a:tailEnd type="triangle" w="med" len="med"/>
          </a:ln>
        </p:spPr>
      </p:cxnSp>
      <p:sp>
        <p:nvSpPr>
          <p:cNvPr id="17" name="text-295">
            <a:extLst>
              <a:ext uri="{FF2B5EF4-FFF2-40B4-BE49-F238E27FC236}">
                <ns2:creationId id="{CF11FC4F-CDAC-4514-BBD4-68DDE3AB640F}"/>
              </a:ext>
            </a:extLst>
          </p:cNvPr>
          <p:cNvSpPr>
            <a:spLocks noGrp="1"/>
          </p:cNvSpPr>
          <p:nvPr/>
        </p:nvSpPr>
        <p:spPr>
          <a:xfrm>
            <a:off x="8143875" y="36290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采用与本地化</a:t>
            </a:r>
          </a:p>
        </p:txBody>
      </p:sp>
      <p:cxnSp>
        <p:nvCxnSpPr>
          <p:cNvPr id="18" name="arrow-296">
            <a:extLst>
              <a:ext uri="{FF2B5EF4-FFF2-40B4-BE49-F238E27FC236}">
                <ns2:creationId id="{0C5DBBA8-30B0-4DEA-8A27-B6E41F15F824}"/>
              </a:ext>
            </a:extLst>
          </p:cNvPr>
          <p:cNvCxnSpPr/>
          <p:nvPr/>
        </p:nvCxnSpPr>
        <p:spPr>
          <a:xfrm>
            <a:off x="10439400" y="3810000"/>
            <a:ext cx="485775" cy="0"/>
          </a:xfrm>
          <a:prstGeom prst="straightConnector1">
            <a:avLst/>
          </a:prstGeom>
          <a:ln w="17145">
            <a:solidFill>
              <a:srgbClr val="A9C98A"/>
            </a:solidFill>
            <a:tailEnd type="triangle" w="med" len="med"/>
          </a:ln>
        </p:spPr>
      </p:cxnSp>
      <p:sp>
        <p:nvSpPr>
          <p:cNvPr id="19" name="text-297">
            <a:extLst>
              <a:ext uri="{FF2B5EF4-FFF2-40B4-BE49-F238E27FC236}">
                <ns2:creationId id="{260AEF18-858A-47D7-AA9C-C14DA98135BC}"/>
              </a:ext>
            </a:extLst>
          </p:cNvPr>
          <p:cNvSpPr>
            <a:spLocks noGrp="1"/>
          </p:cNvSpPr>
          <p:nvPr/>
        </p:nvSpPr>
        <p:spPr>
          <a:xfrm>
            <a:off x="11115675" y="3629025"/>
            <a:ext cx="2209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真实帮助</a:t>
            </a:r>
          </a:p>
        </p:txBody>
      </p:sp>
      <p:cxnSp>
        <p:nvCxnSpPr>
          <p:cNvPr id="20" name="arrow-298">
            <a:extLst>
              <a:ext uri="{FF2B5EF4-FFF2-40B4-BE49-F238E27FC236}">
                <ns2:creationId id="{4B8D4CC7-6414-4231-B23B-D6DA7B477A0B}"/>
              </a:ext>
            </a:extLst>
          </p:cNvPr>
          <p:cNvCxnSpPr/>
          <p:nvPr/>
        </p:nvCxnSpPr>
        <p:spPr>
          <a:xfrm>
            <a:off x="4048125" y="3609975"/>
            <a:ext cx="0" cy="361950"/>
          </a:xfrm>
          <a:prstGeom prst="straightConnector1">
            <a:avLst/>
          </a:prstGeom>
          <a:ln w="17145">
            <a:solidFill>
              <a:srgbClr val="A9C98A"/>
            </a:solidFill>
            <a:headEnd type="triangle" w="med" len="med"/>
          </a:ln>
        </p:spPr>
      </p:cxnSp>
      <p:cxnSp>
        <p:nvCxnSpPr>
          <p:cNvPr id="21" name="arrow-299">
            <a:extLst>
              <a:ext uri="{FF2B5EF4-FFF2-40B4-BE49-F238E27FC236}">
                <ns2:creationId id="{2E966590-3840-4CF7-8CCA-0E3DA7C18397}"/>
              </a:ext>
            </a:extLst>
          </p:cNvPr>
          <p:cNvCxnSpPr/>
          <p:nvPr/>
        </p:nvCxnSpPr>
        <p:spPr>
          <a:xfrm>
            <a:off x="13858875" y="3609975"/>
            <a:ext cx="0" cy="361950"/>
          </a:xfrm>
          <a:prstGeom prst="straightConnector1">
            <a:avLst/>
          </a:prstGeom>
          <a:ln w="17145">
            <a:solidFill>
              <a:srgbClr val="A9C98A"/>
            </a:solidFill>
            <a:headEnd type="triangle" w="med" len="med"/>
          </a:ln>
        </p:spPr>
      </p:cxnSp>
      <p:sp>
        <p:nvSpPr>
          <p:cNvPr id="22" name="panel-300">
            <a:extLst>
              <a:ext uri="{FF2B5EF4-FFF2-40B4-BE49-F238E27FC236}">
                <ns2:creationId id="{1744785B-7C09-40D7-8F21-E4419AFA3AE4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4829175" cy="1933575"/>
          </a:xfrm>
          <a:prstGeom prst="roundRect">
            <a:avLst>
              <a:gd name="adj" fmla="val 2956"/>
            </a:avLst>
          </a:prstGeom>
          <a:solidFill>
            <a:srgbClr val="18362C"/>
          </a:solidFill>
          <a:ln w="9525">
            <a:solidFill>
              <a:srgbClr val="3B5949"/>
            </a:solidFill>
            <a:prstDash val="solid"/>
          </a:ln>
        </p:spPr>
      </p:sp>
      <p:sp>
        <p:nvSpPr>
          <p:cNvPr id="23" name="text-301">
            <a:extLst>
              <a:ext uri="{FF2B5EF4-FFF2-40B4-BE49-F238E27FC236}">
                <ns2:creationId id="{52E38C5A-ECBF-4E39-9A01-3C0E44266E00}"/>
              </a:ext>
            </a:extLst>
          </p:cNvPr>
          <p:cNvSpPr>
            <a:spLocks noGrp="1"/>
          </p:cNvSpPr>
          <p:nvPr/>
        </p:nvSpPr>
        <p:spPr>
          <a:xfrm>
            <a:off x="933450" y="4276725"/>
            <a:ext cx="3810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02 / 两股力量</a:t>
            </a:r>
          </a:p>
        </p:txBody>
      </p:sp>
      <p:sp>
        <p:nvSpPr>
          <p:cNvPr id="24" name="text-302">
            <a:extLst>
              <a:ext uri="{FF2B5EF4-FFF2-40B4-BE49-F238E27FC236}">
                <ns2:creationId id="{8CA42E2C-263A-412B-A16A-5FB71DF0AA4C}"/>
              </a:ext>
            </a:extLst>
          </p:cNvPr>
          <p:cNvSpPr>
            <a:spLocks noGrp="1"/>
          </p:cNvSpPr>
          <p:nvPr/>
        </p:nvSpPr>
        <p:spPr>
          <a:xfrm>
            <a:off x="933450" y="4695825"/>
            <a:ext cx="4286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0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30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0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开源  ×  开发者</a:t>
            </a:r>
          </a:p>
        </p:txBody>
      </p:sp>
      <p:sp>
        <p:nvSpPr>
          <p:cNvPr id="25" name="text-303">
            <a:extLst>
              <a:ext uri="{FF2B5EF4-FFF2-40B4-BE49-F238E27FC236}">
                <ns2:creationId id="{19348AEA-86A0-4C77-B328-ABC0A1F3C5DA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7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降低门槛，放大创造</a:t>
            </a:r>
          </a:p>
        </p:txBody>
      </p:sp>
      <p:cxnSp>
        <p:nvCxnSpPr>
          <p:cNvPr id="26" name="arrow-304">
            <a:extLst>
              <a:ext uri="{FF2B5EF4-FFF2-40B4-BE49-F238E27FC236}">
                <ns2:creationId id="{5444985F-6178-468A-B134-85F2EA85E2C8}"/>
              </a:ext>
            </a:extLst>
          </p:cNvPr>
          <p:cNvCxnSpPr/>
          <p:nvPr/>
        </p:nvCxnSpPr>
        <p:spPr>
          <a:xfrm>
            <a:off x="5695950" y="5095875"/>
            <a:ext cx="638175" cy="0"/>
          </a:xfrm>
          <a:prstGeom prst="straightConnector1">
            <a:avLst/>
          </a:prstGeom>
          <a:ln w="19050">
            <a:solidFill>
              <a:srgbClr val="C8DDA8"/>
            </a:solidFill>
            <a:tailEnd type="triangle" w="med" len="med"/>
          </a:ln>
        </p:spPr>
      </p:cxnSp>
      <p:sp>
        <p:nvSpPr>
          <p:cNvPr id="27" name="panel-305">
            <a:extLst>
              <a:ext uri="{FF2B5EF4-FFF2-40B4-BE49-F238E27FC236}">
                <ns2:creationId id="{A179BDBB-02E5-4E6C-A9FD-4248B51090F5}"/>
              </a:ext>
            </a:extLst>
          </p:cNvPr>
          <p:cNvSpPr>
            <a:spLocks noGrp="1"/>
          </p:cNvSpPr>
          <p:nvPr/>
        </p:nvSpPr>
        <p:spPr>
          <a:xfrm>
            <a:off x="6534150" y="4124325"/>
            <a:ext cx="8020050" cy="1933575"/>
          </a:xfrm>
          <a:prstGeom prst="roundRect">
            <a:avLst>
              <a:gd name="adj" fmla="val 2956"/>
            </a:avLst>
          </a:prstGeom>
          <a:solidFill>
            <a:srgbClr val="18362C"/>
          </a:solidFill>
          <a:ln w="9525">
            <a:solidFill>
              <a:srgbClr val="3B5949"/>
            </a:solidFill>
            <a:prstDash val="solid"/>
          </a:ln>
        </p:spPr>
      </p:sp>
      <p:sp>
        <p:nvSpPr>
          <p:cNvPr id="28" name="text-306">
            <a:extLst>
              <a:ext uri="{FF2B5EF4-FFF2-40B4-BE49-F238E27FC236}">
                <ns2:creationId id="{34B4C92C-BA4C-446C-BED8-E3357E298066}"/>
              </a:ext>
            </a:extLst>
          </p:cNvPr>
          <p:cNvSpPr>
            <a:spLocks noGrp="1"/>
          </p:cNvSpPr>
          <p:nvPr/>
        </p:nvSpPr>
        <p:spPr>
          <a:xfrm>
            <a:off x="8915400" y="4210050"/>
            <a:ext cx="3467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04 / 两个飞轮</a:t>
            </a:r>
          </a:p>
        </p:txBody>
      </p:sp>
      <p:sp>
        <p:nvSpPr>
          <p:cNvPr id="29" name="shape-307">
            <a:extLst>
              <a:ext uri="{FF2B5EF4-FFF2-40B4-BE49-F238E27FC236}">
                <ns2:creationId id="{A0BA9CCF-093E-4D1A-B4DE-FAF101C5240C}"/>
              </a:ext>
            </a:extLst>
          </p:cNvPr>
          <p:cNvSpPr>
            <a:spLocks noGrp="1"/>
          </p:cNvSpPr>
          <p:nvPr/>
        </p:nvSpPr>
        <p:spPr>
          <a:xfrm>
            <a:off x="8191500" y="4591050"/>
            <a:ext cx="1181100" cy="1181100"/>
          </a:xfrm>
          <a:prstGeom prst="ellipse">
            <a:avLst/>
          </a:prstGeom>
          <a:noFill/>
          <a:ln w="20003">
            <a:solidFill>
              <a:srgbClr val="B9D98D"/>
            </a:solidFill>
            <a:prstDash val="solid"/>
          </a:ln>
        </p:spPr>
      </p:sp>
      <p:cxnSp>
        <p:nvCxnSpPr>
          <p:cNvPr id="30" name="clockwise-308">
            <a:extLst>
              <a:ext uri="{FF2B5EF4-FFF2-40B4-BE49-F238E27FC236}">
                <ns2:creationId id="{BEDDDA38-B1EF-45AF-85FA-02679B2527BC}"/>
              </a:ext>
            </a:extLst>
          </p:cNvPr>
          <p:cNvCxnSpPr/>
          <p:nvPr/>
        </p:nvCxnSpPr>
        <p:spPr>
          <a:xfrm rot="2700000">
            <a:off x="9132957" y="4764018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1" name="clockwise-309">
            <a:extLst>
              <a:ext uri="{FF2B5EF4-FFF2-40B4-BE49-F238E27FC236}">
                <ns2:creationId id="{F377D361-D1B2-4953-8EFA-89B40C8DC320}"/>
              </a:ext>
            </a:extLst>
          </p:cNvPr>
          <p:cNvCxnSpPr/>
          <p:nvPr/>
        </p:nvCxnSpPr>
        <p:spPr>
          <a:xfrm rot="8100000">
            <a:off x="9132957" y="5599182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2" name="clockwise-310">
            <a:extLst>
              <a:ext uri="{FF2B5EF4-FFF2-40B4-BE49-F238E27FC236}">
                <ns2:creationId id="{3E750D95-017F-41D5-9F2D-F8323ECB539A}"/>
              </a:ext>
            </a:extLst>
          </p:cNvPr>
          <p:cNvCxnSpPr/>
          <p:nvPr/>
        </p:nvCxnSpPr>
        <p:spPr>
          <a:xfrm rot="13500000">
            <a:off x="8297793" y="5599182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3" name="clockwise-311">
            <a:extLst>
              <a:ext uri="{FF2B5EF4-FFF2-40B4-BE49-F238E27FC236}">
                <ns2:creationId id="{B34BB250-D334-48F1-86B8-733BA8012B92}"/>
              </a:ext>
            </a:extLst>
          </p:cNvPr>
          <p:cNvCxnSpPr/>
          <p:nvPr/>
        </p:nvCxnSpPr>
        <p:spPr>
          <a:xfrm rot="18900000">
            <a:off x="8297793" y="4764018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sp>
        <p:nvSpPr>
          <p:cNvPr id="34" name="shape-312">
            <a:extLst>
              <a:ext uri="{FF2B5EF4-FFF2-40B4-BE49-F238E27FC236}">
                <ns2:creationId id="{66E8C065-B22E-457A-B48D-907BDF72ABE4}"/>
              </a:ext>
            </a:extLst>
          </p:cNvPr>
          <p:cNvSpPr>
            <a:spLocks noGrp="1"/>
          </p:cNvSpPr>
          <p:nvPr/>
        </p:nvSpPr>
        <p:spPr>
          <a:xfrm>
            <a:off x="11868150" y="4591050"/>
            <a:ext cx="1181100" cy="1181100"/>
          </a:xfrm>
          <a:prstGeom prst="ellipse">
            <a:avLst/>
          </a:prstGeom>
          <a:noFill/>
          <a:ln w="20003">
            <a:solidFill>
              <a:srgbClr val="B9D98D"/>
            </a:solidFill>
            <a:prstDash val="solid"/>
          </a:ln>
        </p:spPr>
      </p:sp>
      <p:cxnSp>
        <p:nvCxnSpPr>
          <p:cNvPr id="35" name="clockwise-313">
            <a:extLst>
              <a:ext uri="{FF2B5EF4-FFF2-40B4-BE49-F238E27FC236}">
                <ns2:creationId id="{3B29B294-4922-4804-98CA-29C4D09AC929}"/>
              </a:ext>
            </a:extLst>
          </p:cNvPr>
          <p:cNvCxnSpPr/>
          <p:nvPr/>
        </p:nvCxnSpPr>
        <p:spPr>
          <a:xfrm rot="2700000">
            <a:off x="12809607" y="4764018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6" name="clockwise-314">
            <a:extLst>
              <a:ext uri="{FF2B5EF4-FFF2-40B4-BE49-F238E27FC236}">
                <ns2:creationId id="{C71B8E6A-F37D-4B35-9B98-2BC2D5D5EDF9}"/>
              </a:ext>
            </a:extLst>
          </p:cNvPr>
          <p:cNvCxnSpPr/>
          <p:nvPr/>
        </p:nvCxnSpPr>
        <p:spPr>
          <a:xfrm rot="8100000">
            <a:off x="12809607" y="5599182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7" name="clockwise-315">
            <a:extLst>
              <a:ext uri="{FF2B5EF4-FFF2-40B4-BE49-F238E27FC236}">
                <ns2:creationId id="{49555B08-9893-40D3-9626-B69C66E59E4E}"/>
              </a:ext>
            </a:extLst>
          </p:cNvPr>
          <p:cNvCxnSpPr/>
          <p:nvPr/>
        </p:nvCxnSpPr>
        <p:spPr>
          <a:xfrm rot="13500000">
            <a:off x="11974443" y="5599182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cxnSp>
        <p:nvCxnSpPr>
          <p:cNvPr id="38" name="clockwise-316">
            <a:extLst>
              <a:ext uri="{FF2B5EF4-FFF2-40B4-BE49-F238E27FC236}">
                <ns2:creationId id="{6B0CC9B1-1AE5-4922-B31D-24BCF51E3857}"/>
              </a:ext>
            </a:extLst>
          </p:cNvPr>
          <p:cNvCxnSpPr/>
          <p:nvPr/>
        </p:nvCxnSpPr>
        <p:spPr>
          <a:xfrm rot="18900000">
            <a:off x="11974443" y="4764018"/>
            <a:ext cx="133350" cy="0"/>
          </a:xfrm>
          <a:prstGeom prst="straightConnector1">
            <a:avLst/>
          </a:prstGeom>
          <a:ln w="22860">
            <a:solidFill>
              <a:srgbClr val="B9D98D"/>
            </a:solidFill>
            <a:tailEnd type="triangle" w="med" len="med"/>
          </a:ln>
        </p:spPr>
      </p:cxnSp>
      <p:sp>
        <p:nvSpPr>
          <p:cNvPr id="39" name="text-317">
            <a:extLst>
              <a:ext uri="{FF2B5EF4-FFF2-40B4-BE49-F238E27FC236}">
                <ns2:creationId id="{AFA67AD7-5E66-4349-9432-E915776C6A2F}"/>
              </a:ext>
            </a:extLst>
          </p:cNvPr>
          <p:cNvSpPr>
            <a:spLocks noGrp="1"/>
          </p:cNvSpPr>
          <p:nvPr/>
        </p:nvSpPr>
        <p:spPr>
          <a:xfrm>
            <a:off x="8191500" y="4810125"/>
            <a:ext cx="1181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成长</a:t>
            </a:r>
          </a:p>
        </p:txBody>
      </p:sp>
      <p:sp>
        <p:nvSpPr>
          <p:cNvPr id="40" name="text-318">
            <a:extLst>
              <a:ext uri="{FF2B5EF4-FFF2-40B4-BE49-F238E27FC236}">
                <ns2:creationId id="{55994D0B-49B4-4DC2-944A-E46DC5E2685A}"/>
              </a:ext>
            </a:extLst>
          </p:cNvPr>
          <p:cNvSpPr>
            <a:spLocks noGrp="1"/>
          </p:cNvSpPr>
          <p:nvPr/>
        </p:nvSpPr>
        <p:spPr>
          <a:xfrm>
            <a:off x="8124825" y="53340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公共价值</a:t>
            </a:r>
          </a:p>
        </p:txBody>
      </p:sp>
      <p:sp>
        <p:nvSpPr>
          <p:cNvPr id="41" name="text-319">
            <a:extLst>
              <a:ext uri="{FF2B5EF4-FFF2-40B4-BE49-F238E27FC236}">
                <ns2:creationId id="{EBFCF4E1-34B8-44BB-B70A-FDF5A091FA38}"/>
              </a:ext>
            </a:extLst>
          </p:cNvPr>
          <p:cNvSpPr>
            <a:spLocks noGrp="1"/>
          </p:cNvSpPr>
          <p:nvPr/>
        </p:nvSpPr>
        <p:spPr>
          <a:xfrm>
            <a:off x="11868150" y="4810125"/>
            <a:ext cx="1181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b="1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投入</a:t>
            </a:r>
          </a:p>
        </p:txBody>
      </p:sp>
      <p:sp>
        <p:nvSpPr>
          <p:cNvPr id="42" name="text-320">
            <a:extLst>
              <a:ext uri="{FF2B5EF4-FFF2-40B4-BE49-F238E27FC236}">
                <ns2:creationId id="{9F700277-CB3D-42FB-816C-760089A964CF}"/>
              </a:ext>
            </a:extLst>
          </p:cNvPr>
          <p:cNvSpPr>
            <a:spLocks noGrp="1"/>
          </p:cNvSpPr>
          <p:nvPr/>
        </p:nvSpPr>
        <p:spPr>
          <a:xfrm>
            <a:off x="11801475" y="53340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持续实践</a:t>
            </a:r>
          </a:p>
        </p:txBody>
      </p:sp>
      <p:sp>
        <p:nvSpPr>
          <p:cNvPr id="43" name="text-321">
            <a:extLst>
              <a:ext uri="{FF2B5EF4-FFF2-40B4-BE49-F238E27FC236}">
                <ns2:creationId id="{3C1718B7-A659-4FDD-9755-DC71434EF7B9}"/>
              </a:ext>
            </a:extLst>
          </p:cNvPr>
          <p:cNvSpPr>
            <a:spLocks noGrp="1"/>
          </p:cNvSpPr>
          <p:nvPr/>
        </p:nvSpPr>
        <p:spPr>
          <a:xfrm>
            <a:off x="9906000" y="4610100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价值</a:t>
            </a:r>
          </a:p>
        </p:txBody>
      </p:sp>
      <p:cxnSp>
        <p:nvCxnSpPr>
          <p:cNvPr id="44" name="arrow-322">
            <a:extLst>
              <a:ext uri="{FF2B5EF4-FFF2-40B4-BE49-F238E27FC236}">
                <ns2:creationId id="{2441213D-A09D-4026-9DC8-2D8A96016DCC}"/>
              </a:ext>
            </a:extLst>
          </p:cNvPr>
          <p:cNvCxnSpPr/>
          <p:nvPr/>
        </p:nvCxnSpPr>
        <p:spPr>
          <a:xfrm>
            <a:off x="9953625" y="4991100"/>
            <a:ext cx="1285875" cy="0"/>
          </a:xfrm>
          <a:prstGeom prst="straightConnector1">
            <a:avLst/>
          </a:prstGeom>
          <a:ln w="16193">
            <a:solidFill>
              <a:srgbClr val="C8DDA8"/>
            </a:solidFill>
            <a:tailEnd type="triangle" w="med" len="med"/>
          </a:ln>
        </p:spPr>
      </p:cxnSp>
      <p:cxnSp>
        <p:nvCxnSpPr>
          <p:cNvPr id="45" name="arrow-323">
            <a:extLst>
              <a:ext uri="{FF2B5EF4-FFF2-40B4-BE49-F238E27FC236}">
                <ns2:creationId id="{9F2B0C97-B7E8-429C-8B8F-6E800ABD6A1E}"/>
              </a:ext>
            </a:extLst>
          </p:cNvPr>
          <p:cNvCxnSpPr/>
          <p:nvPr/>
        </p:nvCxnSpPr>
        <p:spPr>
          <a:xfrm>
            <a:off x="9953625" y="5429250"/>
            <a:ext cx="1285875" cy="0"/>
          </a:xfrm>
          <a:prstGeom prst="straightConnector1">
            <a:avLst/>
          </a:prstGeom>
          <a:ln w="16193">
            <a:solidFill>
              <a:srgbClr val="C8DDA8"/>
            </a:solidFill>
            <a:headEnd type="triangle" w="med" len="med"/>
          </a:ln>
        </p:spPr>
      </p:cxnSp>
      <p:sp>
        <p:nvSpPr>
          <p:cNvPr id="46" name="text-324">
            <a:extLst>
              <a:ext uri="{FF2B5EF4-FFF2-40B4-BE49-F238E27FC236}">
                <ns2:creationId id="{97BAF78D-C723-415C-949C-19DFA900C914}"/>
              </a:ext>
            </a:extLst>
          </p:cNvPr>
          <p:cNvSpPr>
            <a:spLocks noGrp="1"/>
          </p:cNvSpPr>
          <p:nvPr/>
        </p:nvSpPr>
        <p:spPr>
          <a:xfrm>
            <a:off x="9906000" y="5505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支持</a:t>
            </a:r>
          </a:p>
        </p:txBody>
      </p:sp>
      <p:sp>
        <p:nvSpPr>
          <p:cNvPr id="47" name="text-325">
            <a:extLst>
              <a:ext uri="{FF2B5EF4-FFF2-40B4-BE49-F238E27FC236}">
                <ns2:creationId id="{95A00A1A-EDA1-4024-9591-01B8FC03145D}"/>
              </a:ext>
            </a:extLst>
          </p:cNvPr>
          <p:cNvSpPr>
            <a:spLocks noGrp="1"/>
          </p:cNvSpPr>
          <p:nvPr/>
        </p:nvSpPr>
        <p:spPr>
          <a:xfrm>
            <a:off x="6715125" y="6134100"/>
            <a:ext cx="3724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评价依据反馈双轮 ↑</a:t>
            </a:r>
          </a:p>
        </p:txBody>
      </p:sp>
      <p:sp>
        <p:nvSpPr>
          <p:cNvPr id="48" name="text-326">
            <a:extLst>
              <a:ext uri="{FF2B5EF4-FFF2-40B4-BE49-F238E27FC236}">
                <ns2:creationId id="{B9A65B71-F98D-4A57-B9D5-343177C0733B}"/>
              </a:ext>
            </a:extLst>
          </p:cNvPr>
          <p:cNvSpPr>
            <a:spLocks noGrp="1"/>
          </p:cNvSpPr>
          <p:nvPr/>
        </p:nvSpPr>
        <p:spPr>
          <a:xfrm>
            <a:off x="10582275" y="6134100"/>
            <a:ext cx="3724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ctr">
              <a:def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双轮实践证据汇入 ↓</a:t>
            </a:r>
          </a:p>
        </p:txBody>
      </p:sp>
      <p:sp>
        <p:nvSpPr>
          <p:cNvPr id="49" name="panel-327">
            <a:extLst>
              <a:ext uri="{FF2B5EF4-FFF2-40B4-BE49-F238E27FC236}">
                <ns2:creationId id="{B9974869-F0C7-4685-91BE-17B347DA4C8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3868400" cy="590550"/>
          </a:xfrm>
          <a:prstGeom prst="roundRect">
            <a:avLst>
              <a:gd name="adj" fmla="val 9677"/>
            </a:avLst>
          </a:prstGeom>
          <a:solidFill>
            <a:srgbClr val="213F30"/>
          </a:solidFill>
          <a:ln w="9525">
            <a:solidFill>
              <a:srgbClr val="66815B"/>
            </a:solidFill>
            <a:prstDash val="solid"/>
          </a:ln>
        </p:spPr>
      </p:sp>
      <p:sp>
        <p:nvSpPr>
          <p:cNvPr id="50" name="text-328">
            <a:extLst>
              <a:ext uri="{FF2B5EF4-FFF2-40B4-BE49-F238E27FC236}">
                <ns2:creationId id="{3118F185-25A9-4160-851F-30597DEF48BC}"/>
              </a:ext>
            </a:extLst>
          </p:cNvPr>
          <p:cNvSpPr>
            <a:spLocks noGrp="1"/>
          </p:cNvSpPr>
          <p:nvPr/>
        </p:nvSpPr>
        <p:spPr>
          <a:xfrm>
            <a:off x="933450" y="66103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03 / 一个内核</a:t>
            </a:r>
          </a:p>
        </p:txBody>
      </p:sp>
      <p:sp>
        <p:nvSpPr>
          <p:cNvPr id="51" name="text-329">
            <a:extLst>
              <a:ext uri="{FF2B5EF4-FFF2-40B4-BE49-F238E27FC236}">
                <ns2:creationId id="{E900C9CB-5096-49A5-8BE4-6A7447C1F4CC}"/>
              </a:ext>
            </a:extLst>
          </p:cNvPr>
          <p:cNvSpPr>
            <a:spLocks noGrp="1"/>
          </p:cNvSpPr>
          <p:nvPr/>
        </p:nvSpPr>
        <p:spPr>
          <a:xfrm>
            <a:off x="4524375" y="65722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D9EABD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75" b="1">
                <a:solidFill>
                  <a:srgbClr val="D9EAB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1">
                <a:solidFill>
                  <a:srgbClr val="D9EABD"/>
                </a:solidFill>
                <a:latin typeface="Source Han Sans SC"/>
                <a:ea typeface="Source Han Sans SC"/>
                <a:cs typeface="Source Han Sans SC"/>
              </a:rPr>
              <a:t>数据与评价</a:t>
            </a:r>
          </a:p>
        </p:txBody>
      </p:sp>
      <p:sp>
        <p:nvSpPr>
          <p:cNvPr id="52" name="text-330">
            <a:extLst>
              <a:ext uri="{FF2B5EF4-FFF2-40B4-BE49-F238E27FC236}">
                <ns2:creationId id="{F20EFA1E-B4D6-4608-A953-12903D5E3E57}"/>
              </a:ext>
            </a:extLst>
          </p:cNvPr>
          <p:cNvSpPr>
            <a:spLocks noGrp="1"/>
          </p:cNvSpPr>
          <p:nvPr/>
        </p:nvSpPr>
        <p:spPr>
          <a:xfrm>
            <a:off x="8877300" y="661987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识别贡献    匹配资源    核验效果</a:t>
            </a:r>
          </a:p>
        </p:txBody>
      </p:sp>
      <p:sp>
        <p:nvSpPr>
          <p:cNvPr id="53" name="panel-331">
            <a:extLst>
              <a:ext uri="{FF2B5EF4-FFF2-40B4-BE49-F238E27FC236}">
                <ns2:creationId id="{D18FBD9E-671A-46C0-971C-2662C91ECB59}"/>
              </a:ext>
            </a:extLst>
          </p:cNvPr>
          <p:cNvSpPr>
            <a:spLocks noGrp="1"/>
          </p:cNvSpPr>
          <p:nvPr/>
        </p:nvSpPr>
        <p:spPr>
          <a:xfrm>
            <a:off x="685800" y="7181850"/>
            <a:ext cx="13868400" cy="581025"/>
          </a:xfrm>
          <a:prstGeom prst="roundRect">
            <a:avLst>
              <a:gd name="adj" fmla="val 9836"/>
            </a:avLst>
          </a:prstGeom>
          <a:noFill/>
          <a:ln w="9525">
            <a:solidFill>
              <a:srgbClr val="3B5949"/>
            </a:solidFill>
            <a:prstDash val="solid"/>
          </a:ln>
        </p:spPr>
      </p:sp>
      <p:sp>
        <p:nvSpPr>
          <p:cNvPr id="54" name="text-332">
            <a:extLst>
              <a:ext uri="{FF2B5EF4-FFF2-40B4-BE49-F238E27FC236}">
                <ns2:creationId id="{75AFE7D3-A084-4076-B5A9-063F8BBEEA93}"/>
              </a:ext>
            </a:extLst>
          </p:cNvPr>
          <p:cNvSpPr>
            <a:spLocks noGrp="1"/>
          </p:cNvSpPr>
          <p:nvPr/>
        </p:nvSpPr>
        <p:spPr>
          <a:xfrm>
            <a:off x="933450" y="7305675"/>
            <a:ext cx="3009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05 / 三重普惠</a:t>
            </a:r>
          </a:p>
        </p:txBody>
      </p:sp>
      <p:sp>
        <p:nvSpPr>
          <p:cNvPr id="55" name="text-333">
            <a:extLst>
              <a:ext uri="{FF2B5EF4-FFF2-40B4-BE49-F238E27FC236}">
                <ns2:creationId id="{9851FB40-8AD0-4DE8-8374-1239DBDC04E5}"/>
              </a:ext>
            </a:extLst>
          </p:cNvPr>
          <p:cNvSpPr>
            <a:spLocks noGrp="1"/>
          </p:cNvSpPr>
          <p:nvPr/>
        </p:nvSpPr>
        <p:spPr>
          <a:xfrm>
            <a:off x="4514850" y="7277100"/>
            <a:ext cx="5524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21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EFF5EE"/>
                </a:solidFill>
                <a:latin typeface="Source Han Sans SC"/>
                <a:ea typeface="Source Han Sans SC"/>
                <a:cs typeface="Source Han Sans SC"/>
              </a:rPr>
              <a:t>开发者    大众    全球南方</a:t>
            </a:r>
          </a:p>
        </p:txBody>
      </p:sp>
      <p:sp>
        <p:nvSpPr>
          <p:cNvPr id="56" name="text-334">
            <a:extLst>
              <a:ext uri="{FF2B5EF4-FFF2-40B4-BE49-F238E27FC236}">
                <ns2:creationId id="{BF22A74F-EB73-4F96-BAC6-86B92F0880B3}"/>
              </a:ext>
            </a:extLst>
          </p:cNvPr>
          <p:cNvSpPr>
            <a:spLocks noGrp="1"/>
          </p:cNvSpPr>
          <p:nvPr/>
        </p:nvSpPr>
        <p:spPr>
          <a:xfrm>
            <a:off x="10191750" y="7315200"/>
            <a:ext cx="4057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r">
              <a:def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AFC5B6"/>
                </a:solidFill>
                <a:latin typeface="Source Han Sans SC"/>
                <a:ea typeface="Source Han Sans SC"/>
                <a:cs typeface="Source Han Sans SC"/>
              </a:rPr>
              <a:t>三个互补视角，共同检验受益</a:t>
            </a:r>
          </a:p>
        </p:txBody>
      </p:sp>
      <p:sp>
        <p:nvSpPr>
          <p:cNvPr id="57" name="text-335">
            <a:extLst>
              <a:ext uri="{FF2B5EF4-FFF2-40B4-BE49-F238E27FC236}">
                <ns2:creationId id="{CF3CF8F1-104D-47A2-9F79-106DABB491FE}"/>
              </a:ext>
            </a:extLst>
          </p:cNvPr>
          <p:cNvSpPr>
            <a:spLocks noGrp="1"/>
          </p:cNvSpPr>
          <p:nvPr/>
        </p:nvSpPr>
        <p:spPr>
          <a:xfrm>
            <a:off x="3524250" y="8096250"/>
            <a:ext cx="814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>
            <a:pPr algn="l">
              <a:defRPr sz="17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C6EE85"/>
                </a:solidFill>
                <a:latin typeface="Source Han Sans SC"/>
                <a:ea typeface="Source Han Sans SC"/>
                <a:cs typeface="Source Han Sans SC"/>
                <a:hlinkClick r:id="Rbc3e0a78e2364c78"/>
              </a:rPr>
              <a:t>加入共建  www.x-lab.info/ai-for-all/</a:t>
            </a:r>
          </a:p>
        </p:txBody>
      </p:sp>
    </p:spTree>
    <p:extLst>
      <p:ext uri="{BB962C8B-B14F-4D97-AF65-F5344CB8AC3E}">
        <ns4:creationId val="1874044420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2026-10-09T08:23:38.5760000Z</dcterms:created>
  <dcterms:modified xsi:type="dcterms:W3CDTF">2026-10-09T08:23:38.5760000Z</dcterms:modified>
</coreProperties>
</file>